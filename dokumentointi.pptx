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5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03076B-A58D-7FB8-AB83-B4517BFBFD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400E546F-D0D3-3443-DC1F-C31C865D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66FAE4C9-DC9E-A5EC-0D1A-C1C08FC2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09D2EA34-D8D7-8B32-2136-2773E798C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3C9ECAA4-CFB7-CE7E-ACAB-D676B1F1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570062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48F9E4DB-89D2-6977-D911-C6E68A7B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E76E1F27-D2F1-E7F0-BF99-CAB109BD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8CFB8784-680C-F492-0076-16183E5A7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41238D5-6B2C-AB94-D05D-4301BA4E8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8CCA441-DAF3-6917-66E5-B402A618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8722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3462768-BC57-AF97-1CF4-96842282F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4624CF31-0AC3-B5F0-8411-CFAC8AD9A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4EC55FA0-6543-7BD2-E433-BE4562C4F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7BC4004-8946-DAD8-F3F5-F5A083E0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14F8CBA-0B74-C3F2-F313-F28D7E8FA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43232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1CD1B7B-AFD6-ED81-B832-9A0EBB71D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308C467-54A7-F1B5-053E-5D30A102A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FF59A83F-EACC-1D39-9601-DFF884506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C4ADE8E0-0A13-7EBB-A45F-7619995E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036439D5-C62C-306E-844C-B3A4DA849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098095B-FC49-BE8B-AB99-1A15FB835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499673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66D7389-5EE0-F293-02E2-0A818ABA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477E42EA-5602-432C-EAF9-29FAD6891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D2175114-66DB-D460-9339-9BA8904AF6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CB574777-0675-C891-CA1A-02631B0B4A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D85696FD-E050-5B77-0D49-F7213683FB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A3887830-2CC0-5984-4657-32A5D477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984B4269-DBF3-2F8F-703A-7952EC92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60B9C948-BE21-C435-9EEF-3FF46B445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36251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C887F6F-D3C8-9241-AFD3-0A20A51D7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F43221CA-BF7C-39B7-3FD8-AAA4A4880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9F06E898-686F-223E-410C-DED0676EE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966F41B8-9400-4EEC-3141-D1167379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1305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DA670B8B-959B-2190-B8F6-63DEDE29A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D0555112-65DD-23AA-000B-47193891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0B1100B4-4086-D598-EB23-D4B4131FE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14122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FEC8C5E-C823-2AE2-7312-7092C50EC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210E039-5B2A-0B09-9D99-7EC31E37D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8A0A88D3-5CF2-2DA8-11B8-E6369DE7E2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0B3CF6-D029-741E-0315-D287AAAAE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2A0097C0-99B4-A3F2-0D5A-C86ECD716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3D0B0ED2-B6BD-5647-F2B6-ABC5ACA8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82021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F5069C3-0ED7-E481-0F82-C64CD82E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B82BBAC6-9477-D848-0F65-85300674C5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E021899E-FB99-CA9E-6E43-A227315D4B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06966DCA-07CD-2DBC-B16D-EA0B20EE0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7A0F3266-6332-4B72-21A0-72BB1121A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E224DADD-F8DD-A3B2-A38E-C9945B884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284647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8993A7D-8AF1-350D-9011-5D4BAF204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6D208CC6-4408-4CA8-D20D-BE6D2FE2E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F8073D4F-2A60-5CA2-8A16-6D7D45F15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7CE5ADF3-7B89-56CB-1E01-F87ECBB6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A813941-3CE1-9ED5-4D11-7647330AB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632409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7C92E4E0-BE16-A683-3081-515E4F62C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B6AE1111-BB5C-51CE-A53E-451211F89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7473F9D7-CD77-7B01-B77C-5D6FC2B81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8BD36E2A-C379-F3BA-F755-E9FAB230C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6263E469-4F2D-8FFA-525D-8D3FE0A72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940045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250FB2D2-3B5C-B073-60A1-F25C82AD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6CF511B9-D0A2-994E-D205-99F82CA11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0C58801-C1C0-8D1C-791E-81EEEEADD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8197D648-768C-41FE-F258-D7A79ED4E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7CA9F3B2-C97A-9756-4D30-12BD6701D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886756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AFC60D8F-D958-2FD1-7804-55854E962845}"/>
              </a:ext>
            </a:extLst>
          </p:cNvPr>
          <p:cNvSpPr txBox="1"/>
          <p:nvPr/>
        </p:nvSpPr>
        <p:spPr>
          <a:xfrm>
            <a:off x="423082" y="2149522"/>
            <a:ext cx="32822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Random</a:t>
            </a:r>
            <a:r>
              <a:rPr lang="fi-FI" dirty="0"/>
              <a:t>:</a:t>
            </a:r>
            <a:r>
              <a:rPr lang="fi-FI" b="1" dirty="0"/>
              <a:t>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20,300ms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58,329ms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3,358ms</a:t>
            </a:r>
          </a:p>
          <a:p>
            <a:r>
              <a:rPr lang="fi-FI" b="1" dirty="0" err="1">
                <a:highlight>
                  <a:srgbClr val="00FF00"/>
                </a:highlight>
              </a:rPr>
              <a:t>Quick</a:t>
            </a:r>
            <a:r>
              <a:rPr lang="fi-FI" b="1" dirty="0">
                <a:highlight>
                  <a:srgbClr val="00FF00"/>
                </a:highlight>
              </a:rPr>
              <a:t> </a:t>
            </a:r>
            <a:r>
              <a:rPr lang="fi-FI" b="1" dirty="0" err="1">
                <a:highlight>
                  <a:srgbClr val="00FF00"/>
                </a:highlight>
              </a:rPr>
              <a:t>Sort</a:t>
            </a:r>
            <a:r>
              <a:rPr lang="fi-FI" b="1" dirty="0">
                <a:highlight>
                  <a:srgbClr val="00FF00"/>
                </a:highlight>
              </a:rPr>
              <a:t>: 2,151ms</a:t>
            </a:r>
            <a:endParaRPr lang="fi-FI" dirty="0">
              <a:highlight>
                <a:srgbClr val="00FF00"/>
              </a:highlight>
            </a:endParaRP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2,694ms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2,758ms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9,078ms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B2FE3428-3248-575F-CD86-AFBBD47A1B0A}"/>
              </a:ext>
            </a:extLst>
          </p:cNvPr>
          <p:cNvSpPr txBox="1"/>
          <p:nvPr/>
        </p:nvSpPr>
        <p:spPr>
          <a:xfrm flipH="1">
            <a:off x="8140889" y="2149522"/>
            <a:ext cx="32822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Laskeva</a:t>
            </a:r>
            <a:r>
              <a:rPr lang="fi-FI" dirty="0"/>
              <a:t>:</a:t>
            </a:r>
            <a:endParaRPr lang="fi-FI" b="1" dirty="0"/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34,921ms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79,532ms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0,355ms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31,412ms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0,374ms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0,491ms</a:t>
            </a:r>
          </a:p>
          <a:p>
            <a:r>
              <a:rPr lang="fi-FI" b="1" dirty="0">
                <a:highlight>
                  <a:srgbClr val="00FF00"/>
                </a:highlight>
              </a:rPr>
              <a:t>Java </a:t>
            </a:r>
            <a:r>
              <a:rPr lang="fi-FI" b="1" dirty="0" err="1">
                <a:highlight>
                  <a:srgbClr val="00FF00"/>
                </a:highlight>
              </a:rPr>
              <a:t>Arrays.sort</a:t>
            </a:r>
            <a:r>
              <a:rPr lang="fi-FI" b="1" dirty="0">
                <a:highlight>
                  <a:srgbClr val="00FF00"/>
                </a:highlight>
              </a:rPr>
              <a:t>: 0,220ms</a:t>
            </a:r>
            <a:endParaRPr lang="fi-FI" dirty="0">
              <a:highlight>
                <a:srgbClr val="00FF00"/>
              </a:highlight>
            </a:endParaRPr>
          </a:p>
          <a:p>
            <a:endParaRPr lang="fi-FI" dirty="0"/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BF916D61-A1B7-829B-711C-9FA05545B0A0}"/>
              </a:ext>
            </a:extLst>
          </p:cNvPr>
          <p:cNvSpPr txBox="1"/>
          <p:nvPr/>
        </p:nvSpPr>
        <p:spPr>
          <a:xfrm>
            <a:off x="4601570" y="2149522"/>
            <a:ext cx="29888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Nouseva</a:t>
            </a:r>
            <a:r>
              <a:rPr lang="fi-FI" dirty="0"/>
              <a:t>:</a:t>
            </a:r>
            <a:endParaRPr lang="fi-FI" b="1" dirty="0"/>
          </a:p>
          <a:p>
            <a:r>
              <a:rPr lang="fi-FI" b="1" dirty="0" err="1">
                <a:highlight>
                  <a:srgbClr val="00FF00"/>
                </a:highlight>
              </a:rPr>
              <a:t>Insertion</a:t>
            </a:r>
            <a:r>
              <a:rPr lang="fi-FI" b="1" dirty="0">
                <a:highlight>
                  <a:srgbClr val="00FF00"/>
                </a:highlight>
              </a:rPr>
              <a:t> </a:t>
            </a:r>
            <a:r>
              <a:rPr lang="fi-FI" b="1" dirty="0" err="1">
                <a:highlight>
                  <a:srgbClr val="00FF00"/>
                </a:highlight>
              </a:rPr>
              <a:t>Sort</a:t>
            </a:r>
            <a:r>
              <a:rPr lang="fi-FI" b="1" dirty="0">
                <a:highlight>
                  <a:srgbClr val="00FF00"/>
                </a:highlight>
              </a:rPr>
              <a:t>: 0,032ms</a:t>
            </a:r>
            <a:endParaRPr lang="fi-FI" dirty="0">
              <a:highlight>
                <a:srgbClr val="00FF00"/>
              </a:highlight>
            </a:endParaRP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0,083ms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0,362ms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62,482ms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0,348ms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0,438ms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0,112ms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B614AB1C-E45B-5D56-6002-38582987E0E7}"/>
              </a:ext>
            </a:extLst>
          </p:cNvPr>
          <p:cNvSpPr txBox="1"/>
          <p:nvPr/>
        </p:nvSpPr>
        <p:spPr>
          <a:xfrm>
            <a:off x="3951027" y="1057701"/>
            <a:ext cx="3070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3600" dirty="0"/>
              <a:t>10 000 Alkiota</a:t>
            </a:r>
          </a:p>
        </p:txBody>
      </p:sp>
    </p:spTree>
    <p:extLst>
      <p:ext uri="{BB962C8B-B14F-4D97-AF65-F5344CB8AC3E}">
        <p14:creationId xmlns:p14="http://schemas.microsoft.com/office/powerpoint/2010/main" val="2236255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E3F1-E8AA-64DC-C3F1-5C4FA558D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B2BF1B61-63DB-762D-AC5F-8E90E667EF87}"/>
              </a:ext>
            </a:extLst>
          </p:cNvPr>
          <p:cNvSpPr txBox="1"/>
          <p:nvPr/>
        </p:nvSpPr>
        <p:spPr>
          <a:xfrm>
            <a:off x="423082" y="2149522"/>
            <a:ext cx="32822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Random</a:t>
            </a:r>
            <a:r>
              <a:rPr lang="fi-FI" dirty="0"/>
              <a:t>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11368,485ms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116265,203ms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41,431ms</a:t>
            </a:r>
          </a:p>
          <a:p>
            <a:r>
              <a:rPr lang="fi-FI" b="1" dirty="0" err="1">
                <a:highlight>
                  <a:srgbClr val="00FF00"/>
                </a:highlight>
              </a:rPr>
              <a:t>Quick</a:t>
            </a:r>
            <a:r>
              <a:rPr lang="fi-FI" b="1" dirty="0">
                <a:highlight>
                  <a:srgbClr val="00FF00"/>
                </a:highlight>
              </a:rPr>
              <a:t> </a:t>
            </a:r>
            <a:r>
              <a:rPr lang="fi-FI" b="1" dirty="0" err="1">
                <a:highlight>
                  <a:srgbClr val="00FF00"/>
                </a:highlight>
              </a:rPr>
              <a:t>Sort</a:t>
            </a:r>
            <a:r>
              <a:rPr lang="fi-FI" b="1" dirty="0">
                <a:highlight>
                  <a:srgbClr val="00FF00"/>
                </a:highlight>
              </a:rPr>
              <a:t>: 27,550ms</a:t>
            </a:r>
            <a:endParaRPr lang="fi-FI" dirty="0">
              <a:highlight>
                <a:srgbClr val="00FF00"/>
              </a:highlight>
            </a:endParaRP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32,031ms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44,241ms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33,275ms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A2242C55-D625-4102-45CB-F017F9FEF94F}"/>
              </a:ext>
            </a:extLst>
          </p:cNvPr>
          <p:cNvSpPr txBox="1"/>
          <p:nvPr/>
        </p:nvSpPr>
        <p:spPr>
          <a:xfrm flipH="1">
            <a:off x="8140889" y="2149522"/>
            <a:ext cx="32822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Laskeva</a:t>
            </a:r>
            <a:r>
              <a:rPr lang="fi-FI" dirty="0"/>
              <a:t>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8082,202ms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50512,729ms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8,338ms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19471,239ms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9,673ms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10,539ms</a:t>
            </a:r>
          </a:p>
          <a:p>
            <a:r>
              <a:rPr lang="fi-FI" b="1" dirty="0">
                <a:highlight>
                  <a:srgbClr val="00FF00"/>
                </a:highlight>
              </a:rPr>
              <a:t>Java </a:t>
            </a:r>
            <a:r>
              <a:rPr lang="fi-FI" b="1" dirty="0" err="1">
                <a:highlight>
                  <a:srgbClr val="00FF00"/>
                </a:highlight>
              </a:rPr>
              <a:t>Arrays.sort</a:t>
            </a:r>
            <a:r>
              <a:rPr lang="fi-FI" b="1" dirty="0">
                <a:highlight>
                  <a:srgbClr val="00FF00"/>
                </a:highlight>
              </a:rPr>
              <a:t>: 5,243ms</a:t>
            </a:r>
            <a:endParaRPr lang="fi-FI" dirty="0">
              <a:highlight>
                <a:srgbClr val="00FF00"/>
              </a:highlight>
            </a:endParaRP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7DA3D183-30BC-4B78-55D1-FF8E183AD5A0}"/>
              </a:ext>
            </a:extLst>
          </p:cNvPr>
          <p:cNvSpPr txBox="1"/>
          <p:nvPr/>
        </p:nvSpPr>
        <p:spPr>
          <a:xfrm>
            <a:off x="4601570" y="2149522"/>
            <a:ext cx="2988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Nouseva</a:t>
            </a:r>
            <a:r>
              <a:rPr lang="fi-FI" dirty="0"/>
              <a:t>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0,872ms</a:t>
            </a:r>
          </a:p>
          <a:p>
            <a:r>
              <a:rPr lang="fi-FI" b="1" dirty="0" err="1">
                <a:highlight>
                  <a:srgbClr val="00FF00"/>
                </a:highlight>
              </a:rPr>
              <a:t>Bubble</a:t>
            </a:r>
            <a:r>
              <a:rPr lang="fi-FI" b="1" dirty="0">
                <a:highlight>
                  <a:srgbClr val="00FF00"/>
                </a:highlight>
              </a:rPr>
              <a:t> </a:t>
            </a:r>
            <a:r>
              <a:rPr lang="fi-FI" b="1" dirty="0" err="1">
                <a:highlight>
                  <a:srgbClr val="00FF00"/>
                </a:highlight>
              </a:rPr>
              <a:t>Sort</a:t>
            </a:r>
            <a:r>
              <a:rPr lang="fi-FI" b="1" dirty="0">
                <a:highlight>
                  <a:srgbClr val="00FF00"/>
                </a:highlight>
              </a:rPr>
              <a:t>: 0,352ms</a:t>
            </a:r>
            <a:endParaRPr lang="fi-FI" dirty="0">
              <a:highlight>
                <a:srgbClr val="00FF00"/>
              </a:highlight>
            </a:endParaRP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4,289ms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44287,423ms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9,336ms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12,814ms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2,524ms</a:t>
            </a:r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46522BD6-BFAF-5D10-29AC-54002D3DACAF}"/>
              </a:ext>
            </a:extLst>
          </p:cNvPr>
          <p:cNvSpPr txBox="1"/>
          <p:nvPr/>
        </p:nvSpPr>
        <p:spPr>
          <a:xfrm>
            <a:off x="4039737" y="880280"/>
            <a:ext cx="4101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3600" dirty="0"/>
              <a:t>250 000 Alkiota</a:t>
            </a:r>
          </a:p>
        </p:txBody>
      </p:sp>
    </p:spTree>
    <p:extLst>
      <p:ext uri="{BB962C8B-B14F-4D97-AF65-F5344CB8AC3E}">
        <p14:creationId xmlns:p14="http://schemas.microsoft.com/office/powerpoint/2010/main" val="278837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AF93C99B-5A88-0A6D-D5A2-72555C60C0A5}"/>
              </a:ext>
            </a:extLst>
          </p:cNvPr>
          <p:cNvSpPr txBox="1"/>
          <p:nvPr/>
        </p:nvSpPr>
        <p:spPr>
          <a:xfrm>
            <a:off x="1589964" y="648269"/>
            <a:ext cx="96809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3200" dirty="0"/>
              <a:t>Käytin funktioiden testaamiseen </a:t>
            </a:r>
            <a:r>
              <a:rPr lang="fi-FI" sz="3200" dirty="0" err="1"/>
              <a:t>function</a:t>
            </a:r>
            <a:r>
              <a:rPr lang="fi-FI" sz="3200" dirty="0"/>
              <a:t> pointtereita: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530ADD85-1E03-B10D-94F6-3BBC0D2DCFE4}"/>
              </a:ext>
            </a:extLst>
          </p:cNvPr>
          <p:cNvSpPr txBox="1"/>
          <p:nvPr/>
        </p:nvSpPr>
        <p:spPr>
          <a:xfrm>
            <a:off x="921224" y="1899117"/>
            <a:ext cx="110888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 err="1"/>
              <a:t>public</a:t>
            </a:r>
            <a:r>
              <a:rPr lang="fi-FI" dirty="0"/>
              <a:t> </a:t>
            </a:r>
            <a:r>
              <a:rPr lang="fi-FI" dirty="0" err="1"/>
              <a:t>static</a:t>
            </a:r>
            <a:r>
              <a:rPr lang="fi-FI" dirty="0"/>
              <a:t> </a:t>
            </a:r>
            <a:r>
              <a:rPr lang="fi-FI" dirty="0" err="1"/>
              <a:t>void</a:t>
            </a:r>
            <a:r>
              <a:rPr lang="fi-FI" dirty="0"/>
              <a:t> </a:t>
            </a:r>
            <a:r>
              <a:rPr lang="fi-FI" dirty="0" err="1"/>
              <a:t>measureExecSpeed</a:t>
            </a:r>
            <a:r>
              <a:rPr lang="fi-FI" dirty="0"/>
              <a:t>(</a:t>
            </a:r>
            <a:r>
              <a:rPr lang="fi-FI" dirty="0" err="1"/>
              <a:t>FunctionPointer</a:t>
            </a:r>
            <a:r>
              <a:rPr lang="fi-FI" dirty="0"/>
              <a:t> </a:t>
            </a:r>
            <a:r>
              <a:rPr lang="fi-FI" dirty="0" err="1"/>
              <a:t>method</a:t>
            </a:r>
            <a:r>
              <a:rPr lang="fi-FI" dirty="0"/>
              <a:t>, </a:t>
            </a:r>
            <a:r>
              <a:rPr lang="fi-FI" dirty="0" err="1"/>
              <a:t>String</a:t>
            </a:r>
            <a:r>
              <a:rPr lang="fi-FI" dirty="0"/>
              <a:t> </a:t>
            </a:r>
            <a:r>
              <a:rPr lang="fi-FI" dirty="0" err="1"/>
              <a:t>name</a:t>
            </a:r>
            <a:r>
              <a:rPr lang="fi-FI" dirty="0"/>
              <a:t>, </a:t>
            </a:r>
            <a:r>
              <a:rPr lang="fi-FI" dirty="0" err="1"/>
              <a:t>int</a:t>
            </a:r>
            <a:r>
              <a:rPr lang="fi-FI" dirty="0"/>
              <a:t> </a:t>
            </a:r>
            <a:r>
              <a:rPr lang="fi-FI" dirty="0" err="1"/>
              <a:t>size</a:t>
            </a:r>
            <a:r>
              <a:rPr lang="fi-FI" dirty="0"/>
              <a:t>, </a:t>
            </a:r>
            <a:r>
              <a:rPr lang="fi-FI" dirty="0" err="1"/>
              <a:t>int</a:t>
            </a:r>
            <a:r>
              <a:rPr lang="fi-FI" dirty="0"/>
              <a:t>[] </a:t>
            </a:r>
            <a:r>
              <a:rPr lang="fi-FI" dirty="0" err="1"/>
              <a:t>arr</a:t>
            </a:r>
            <a:r>
              <a:rPr lang="fi-FI" dirty="0"/>
              <a:t>) {</a:t>
            </a:r>
          </a:p>
          <a:p>
            <a:r>
              <a:rPr lang="fi-FI" dirty="0"/>
              <a:t>            long </a:t>
            </a:r>
            <a:r>
              <a:rPr lang="fi-FI" dirty="0" err="1"/>
              <a:t>start</a:t>
            </a:r>
            <a:r>
              <a:rPr lang="fi-FI" dirty="0"/>
              <a:t> = </a:t>
            </a:r>
            <a:r>
              <a:rPr lang="fi-FI" dirty="0" err="1"/>
              <a:t>System.nanoTime</a:t>
            </a:r>
            <a:r>
              <a:rPr lang="fi-FI" dirty="0"/>
              <a:t>();</a:t>
            </a:r>
          </a:p>
          <a:p>
            <a:r>
              <a:rPr lang="fi-FI" dirty="0"/>
              <a:t>            </a:t>
            </a:r>
            <a:r>
              <a:rPr lang="fi-FI" dirty="0" err="1"/>
              <a:t>method.methodSignature</a:t>
            </a:r>
            <a:r>
              <a:rPr lang="fi-FI" dirty="0"/>
              <a:t>(</a:t>
            </a:r>
            <a:r>
              <a:rPr lang="fi-FI" dirty="0" err="1"/>
              <a:t>arr</a:t>
            </a:r>
            <a:r>
              <a:rPr lang="fi-FI" dirty="0"/>
              <a:t>);</a:t>
            </a:r>
          </a:p>
          <a:p>
            <a:r>
              <a:rPr lang="fi-FI" dirty="0"/>
              <a:t>            long </a:t>
            </a:r>
            <a:r>
              <a:rPr lang="fi-FI" dirty="0" err="1"/>
              <a:t>taken</a:t>
            </a:r>
            <a:r>
              <a:rPr lang="fi-FI" dirty="0"/>
              <a:t> = </a:t>
            </a:r>
            <a:r>
              <a:rPr lang="fi-FI" dirty="0" err="1"/>
              <a:t>System.nanoTime</a:t>
            </a:r>
            <a:r>
              <a:rPr lang="fi-FI" dirty="0"/>
              <a:t>() - </a:t>
            </a:r>
            <a:r>
              <a:rPr lang="fi-FI" dirty="0" err="1"/>
              <a:t>start</a:t>
            </a:r>
            <a:r>
              <a:rPr lang="fi-FI" dirty="0"/>
              <a:t>;</a:t>
            </a:r>
          </a:p>
          <a:p>
            <a:r>
              <a:rPr lang="fi-FI" dirty="0"/>
              <a:t>            </a:t>
            </a:r>
            <a:r>
              <a:rPr lang="fi-FI" dirty="0" err="1"/>
              <a:t>System.out.println</a:t>
            </a:r>
            <a:r>
              <a:rPr lang="fi-FI" dirty="0"/>
              <a:t>(</a:t>
            </a:r>
            <a:r>
              <a:rPr lang="fi-FI" dirty="0" err="1"/>
              <a:t>name</a:t>
            </a:r>
            <a:r>
              <a:rPr lang="fi-FI" dirty="0"/>
              <a:t> + ": " + </a:t>
            </a:r>
            <a:r>
              <a:rPr lang="fi-FI" dirty="0" err="1"/>
              <a:t>String.format</a:t>
            </a:r>
            <a:r>
              <a:rPr lang="fi-FI" dirty="0"/>
              <a:t>("%.3f", </a:t>
            </a:r>
            <a:r>
              <a:rPr lang="fi-FI" dirty="0" err="1"/>
              <a:t>taken</a:t>
            </a:r>
            <a:r>
              <a:rPr lang="fi-FI" dirty="0"/>
              <a:t> / 1000000.0) + "ms");</a:t>
            </a:r>
          </a:p>
          <a:p>
            <a:r>
              <a:rPr lang="fi-FI" dirty="0"/>
              <a:t>}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BF0ECEAB-ACAF-5669-5497-1F00A2CBF539}"/>
              </a:ext>
            </a:extLst>
          </p:cNvPr>
          <p:cNvSpPr txBox="1"/>
          <p:nvPr/>
        </p:nvSpPr>
        <p:spPr>
          <a:xfrm>
            <a:off x="921224" y="4319516"/>
            <a:ext cx="4600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public interface </a:t>
            </a:r>
            <a:r>
              <a:rPr lang="en-US" dirty="0" err="1"/>
              <a:t>FunctionPointer</a:t>
            </a:r>
            <a:r>
              <a:rPr lang="en-US" dirty="0"/>
              <a:t> {</a:t>
            </a:r>
          </a:p>
          <a:p>
            <a:r>
              <a:rPr lang="en-US" dirty="0"/>
              <a:t>            void </a:t>
            </a:r>
            <a:r>
              <a:rPr lang="en-US" dirty="0" err="1"/>
              <a:t>methodSignature</a:t>
            </a:r>
            <a:r>
              <a:rPr lang="en-US" dirty="0"/>
              <a:t>(int[] data);</a:t>
            </a:r>
          </a:p>
          <a:p>
            <a:r>
              <a:rPr lang="en-US" dirty="0"/>
              <a:t>        }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1694672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52964F3D-4CE3-0808-63AD-72161B88132F}"/>
              </a:ext>
            </a:extLst>
          </p:cNvPr>
          <p:cNvSpPr txBox="1"/>
          <p:nvPr/>
        </p:nvSpPr>
        <p:spPr>
          <a:xfrm>
            <a:off x="590214" y="171857"/>
            <a:ext cx="116135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400" dirty="0"/>
              <a:t>Optimoin </a:t>
            </a:r>
            <a:r>
              <a:rPr lang="fi-FI" sz="2400" dirty="0" err="1"/>
              <a:t>Quick</a:t>
            </a:r>
            <a:r>
              <a:rPr lang="fi-FI" sz="2400" dirty="0"/>
              <a:t> Sortin käyttämällä pivot-alkiona </a:t>
            </a:r>
            <a:r>
              <a:rPr lang="fi-FI" sz="2400" dirty="0" err="1"/>
              <a:t>random.nextInt</a:t>
            </a:r>
            <a:r>
              <a:rPr lang="fi-FI" sz="2400" dirty="0"/>
              <a:t>() väliltä </a:t>
            </a:r>
            <a:r>
              <a:rPr lang="fi-FI" sz="2400" dirty="0" err="1"/>
              <a:t>low</a:t>
            </a:r>
            <a:r>
              <a:rPr lang="fi-FI" sz="2400" dirty="0"/>
              <a:t> ja </a:t>
            </a:r>
            <a:r>
              <a:rPr lang="fi-FI" sz="2400" dirty="0" err="1"/>
              <a:t>high</a:t>
            </a:r>
            <a:r>
              <a:rPr lang="fi-FI" sz="2400" dirty="0"/>
              <a:t> + 1,</a:t>
            </a:r>
          </a:p>
          <a:p>
            <a:r>
              <a:rPr lang="fi-FI" sz="2400" dirty="0"/>
              <a:t>tällöin normaalin </a:t>
            </a:r>
            <a:r>
              <a:rPr lang="fi-FI" sz="2400" dirty="0" err="1"/>
              <a:t>Quick</a:t>
            </a:r>
            <a:r>
              <a:rPr lang="fi-FI" sz="2400" dirty="0"/>
              <a:t> Sortin laskevan / nousevan datan O(n^2) huonointa tapausta</a:t>
            </a:r>
          </a:p>
          <a:p>
            <a:r>
              <a:rPr lang="fi-FI" sz="2400" dirty="0"/>
              <a:t>ei tapahdu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EFC386E7-9FA4-2E6B-8EF8-07E204F26AE2}"/>
              </a:ext>
            </a:extLst>
          </p:cNvPr>
          <p:cNvSpPr txBox="1"/>
          <p:nvPr/>
        </p:nvSpPr>
        <p:spPr>
          <a:xfrm>
            <a:off x="1709926" y="1315329"/>
            <a:ext cx="877214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1400" dirty="0" err="1"/>
              <a:t>private</a:t>
            </a:r>
            <a:r>
              <a:rPr lang="fi-FI" sz="1400" dirty="0"/>
              <a:t> </a:t>
            </a:r>
            <a:r>
              <a:rPr lang="fi-FI" sz="1400" dirty="0" err="1"/>
              <a:t>static</a:t>
            </a:r>
            <a:r>
              <a:rPr lang="fi-FI" sz="1400" dirty="0"/>
              <a:t> </a:t>
            </a:r>
            <a:r>
              <a:rPr lang="fi-FI" sz="1400" dirty="0" err="1"/>
              <a:t>final</a:t>
            </a:r>
            <a:r>
              <a:rPr lang="fi-FI" sz="1400" dirty="0"/>
              <a:t> Random </a:t>
            </a:r>
            <a:r>
              <a:rPr lang="fi-FI" sz="1400" dirty="0" err="1"/>
              <a:t>gen</a:t>
            </a:r>
            <a:r>
              <a:rPr lang="fi-FI" sz="1400" dirty="0"/>
              <a:t> = </a:t>
            </a:r>
            <a:r>
              <a:rPr lang="fi-FI" sz="1400" dirty="0" err="1"/>
              <a:t>new</a:t>
            </a:r>
            <a:r>
              <a:rPr lang="fi-FI" sz="1400" dirty="0"/>
              <a:t> Random();</a:t>
            </a:r>
          </a:p>
          <a:p>
            <a:r>
              <a:rPr lang="fi-FI" sz="1400" dirty="0"/>
              <a:t>        </a:t>
            </a:r>
          </a:p>
          <a:p>
            <a:r>
              <a:rPr lang="fi-FI" sz="1400" dirty="0"/>
              <a:t>        </a:t>
            </a:r>
            <a:r>
              <a:rPr lang="fi-FI" sz="1400" dirty="0" err="1"/>
              <a:t>public</a:t>
            </a:r>
            <a:r>
              <a:rPr lang="fi-FI" sz="1400" dirty="0"/>
              <a:t> </a:t>
            </a:r>
            <a:r>
              <a:rPr lang="fi-FI" sz="1400" dirty="0" err="1"/>
              <a:t>static</a:t>
            </a:r>
            <a:r>
              <a:rPr lang="fi-FI" sz="1400" dirty="0"/>
              <a:t> </a:t>
            </a:r>
            <a:r>
              <a:rPr lang="fi-FI" sz="1400" dirty="0" err="1"/>
              <a:t>void</a:t>
            </a:r>
            <a:r>
              <a:rPr lang="fi-FI" sz="1400" dirty="0"/>
              <a:t> </a:t>
            </a:r>
            <a:r>
              <a:rPr lang="fi-FI" sz="1400" dirty="0" err="1"/>
              <a:t>optimizedQuickSort</a:t>
            </a:r>
            <a:r>
              <a:rPr lang="fi-FI" sz="1400" dirty="0"/>
              <a:t>(</a:t>
            </a:r>
            <a:r>
              <a:rPr lang="fi-FI" sz="1400" dirty="0" err="1"/>
              <a:t>int</a:t>
            </a:r>
            <a:r>
              <a:rPr lang="fi-FI" sz="1400" dirty="0"/>
              <a:t>[] data,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low</a:t>
            </a:r>
            <a:r>
              <a:rPr lang="fi-FI" sz="1400" dirty="0"/>
              <a:t>,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high</a:t>
            </a:r>
            <a:r>
              <a:rPr lang="fi-FI" sz="1400" dirty="0"/>
              <a:t>) {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if</a:t>
            </a:r>
            <a:r>
              <a:rPr lang="fi-FI" sz="1400" dirty="0"/>
              <a:t> (</a:t>
            </a:r>
            <a:r>
              <a:rPr lang="fi-FI" sz="1400" dirty="0" err="1"/>
              <a:t>low</a:t>
            </a:r>
            <a:r>
              <a:rPr lang="fi-FI" sz="1400" dirty="0"/>
              <a:t> &gt;= </a:t>
            </a:r>
            <a:r>
              <a:rPr lang="fi-FI" sz="1400" dirty="0" err="1"/>
              <a:t>high</a:t>
            </a:r>
            <a:r>
              <a:rPr lang="fi-FI" sz="1400" dirty="0"/>
              <a:t>) </a:t>
            </a:r>
            <a:r>
              <a:rPr lang="fi-FI" sz="1400" dirty="0" err="1"/>
              <a:t>return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pivotIndex</a:t>
            </a:r>
            <a:r>
              <a:rPr lang="fi-FI" sz="1400" dirty="0"/>
              <a:t> = </a:t>
            </a:r>
            <a:r>
              <a:rPr lang="fi-FI" sz="1400" dirty="0" err="1"/>
              <a:t>gen.nextInt</a:t>
            </a:r>
            <a:r>
              <a:rPr lang="fi-FI" sz="1400" dirty="0"/>
              <a:t>(</a:t>
            </a:r>
            <a:r>
              <a:rPr lang="fi-FI" sz="1400" dirty="0" err="1"/>
              <a:t>low</a:t>
            </a:r>
            <a:r>
              <a:rPr lang="fi-FI" sz="1400" dirty="0"/>
              <a:t>, </a:t>
            </a:r>
            <a:r>
              <a:rPr lang="fi-FI" sz="1400" dirty="0" err="1"/>
              <a:t>high</a:t>
            </a:r>
            <a:r>
              <a:rPr lang="fi-FI" sz="1400" dirty="0"/>
              <a:t> + 1); // vältetään huonoin O(n^2) tapaus jos lista laskeva tai nouseva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pivot = data[</a:t>
            </a:r>
            <a:r>
              <a:rPr lang="fi-FI" sz="1400" dirty="0" err="1"/>
              <a:t>pivotIndex</a:t>
            </a:r>
            <a:r>
              <a:rPr lang="fi-FI" sz="1400" dirty="0"/>
              <a:t>]; // optimoidaan valitsemalla random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pivotiksi</a:t>
            </a:r>
            <a:endParaRPr lang="fi-FI" sz="1400" dirty="0"/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pTemp</a:t>
            </a:r>
            <a:r>
              <a:rPr lang="fi-FI" sz="1400" dirty="0"/>
              <a:t> = data[</a:t>
            </a:r>
            <a:r>
              <a:rPr lang="fi-FI" sz="1400" dirty="0" err="1"/>
              <a:t>pivotIndex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pivotIndex</a:t>
            </a:r>
            <a:r>
              <a:rPr lang="fi-FI" sz="1400" dirty="0"/>
              <a:t>] = data[</a:t>
            </a:r>
            <a:r>
              <a:rPr lang="fi-FI" sz="1400" dirty="0" err="1"/>
              <a:t>high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high</a:t>
            </a:r>
            <a:r>
              <a:rPr lang="fi-FI" sz="1400" dirty="0"/>
              <a:t>] = </a:t>
            </a:r>
            <a:r>
              <a:rPr lang="fi-FI" sz="1400" dirty="0" err="1"/>
              <a:t>pTemp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index</a:t>
            </a:r>
            <a:r>
              <a:rPr lang="fi-FI" sz="1400" dirty="0"/>
              <a:t> = </a:t>
            </a:r>
            <a:r>
              <a:rPr lang="fi-FI" sz="1400" dirty="0" err="1"/>
              <a:t>low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for (</a:t>
            </a:r>
            <a:r>
              <a:rPr lang="fi-FI" sz="1400" dirty="0" err="1"/>
              <a:t>int</a:t>
            </a:r>
            <a:r>
              <a:rPr lang="fi-FI" sz="1400" dirty="0"/>
              <a:t> i = </a:t>
            </a:r>
            <a:r>
              <a:rPr lang="fi-FI" sz="1400" dirty="0" err="1"/>
              <a:t>low</a:t>
            </a:r>
            <a:r>
              <a:rPr lang="fi-FI" sz="1400" dirty="0"/>
              <a:t>; i &lt; </a:t>
            </a:r>
            <a:r>
              <a:rPr lang="fi-FI" sz="1400" dirty="0" err="1"/>
              <a:t>high</a:t>
            </a:r>
            <a:r>
              <a:rPr lang="fi-FI" sz="1400" dirty="0"/>
              <a:t>; ++i) {</a:t>
            </a:r>
          </a:p>
          <a:p>
            <a:r>
              <a:rPr lang="fi-FI" sz="1400" dirty="0"/>
              <a:t>                </a:t>
            </a:r>
            <a:r>
              <a:rPr lang="fi-FI" sz="1400" dirty="0" err="1"/>
              <a:t>if</a:t>
            </a:r>
            <a:r>
              <a:rPr lang="fi-FI" sz="1400" dirty="0"/>
              <a:t> (data[i] &lt; pivot) {</a:t>
            </a:r>
          </a:p>
          <a:p>
            <a:r>
              <a:rPr lang="fi-FI" sz="1400" dirty="0"/>
              <a:t>        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temp</a:t>
            </a:r>
            <a:r>
              <a:rPr lang="fi-FI" sz="1400" dirty="0"/>
              <a:t> = data[</a:t>
            </a:r>
            <a:r>
              <a:rPr lang="fi-FI" sz="1400" dirty="0" err="1"/>
              <a:t>index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        data[</a:t>
            </a:r>
            <a:r>
              <a:rPr lang="fi-FI" sz="1400" dirty="0" err="1"/>
              <a:t>index</a:t>
            </a:r>
            <a:r>
              <a:rPr lang="fi-FI" sz="1400" dirty="0"/>
              <a:t>] = data[i];</a:t>
            </a:r>
          </a:p>
          <a:p>
            <a:r>
              <a:rPr lang="fi-FI" sz="1400" dirty="0"/>
              <a:t>                    data[i] = </a:t>
            </a:r>
            <a:r>
              <a:rPr lang="fi-FI" sz="1400" dirty="0" err="1"/>
              <a:t>temp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        ++</a:t>
            </a:r>
            <a:r>
              <a:rPr lang="fi-FI" sz="1400" dirty="0" err="1"/>
              <a:t>index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    }</a:t>
            </a:r>
          </a:p>
          <a:p>
            <a:r>
              <a:rPr lang="fi-FI" sz="1400" dirty="0"/>
              <a:t>            }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temp</a:t>
            </a:r>
            <a:r>
              <a:rPr lang="fi-FI" sz="1400" dirty="0"/>
              <a:t> = data[</a:t>
            </a:r>
            <a:r>
              <a:rPr lang="fi-FI" sz="1400" dirty="0" err="1"/>
              <a:t>index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index</a:t>
            </a:r>
            <a:r>
              <a:rPr lang="fi-FI" sz="1400" dirty="0"/>
              <a:t>] = data[</a:t>
            </a:r>
            <a:r>
              <a:rPr lang="fi-FI" sz="1400" dirty="0" err="1"/>
              <a:t>high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high</a:t>
            </a:r>
            <a:r>
              <a:rPr lang="fi-FI" sz="1400" dirty="0"/>
              <a:t>] = </a:t>
            </a:r>
            <a:r>
              <a:rPr lang="fi-FI" sz="1400" dirty="0" err="1"/>
              <a:t>temp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optimizedQuickSort</a:t>
            </a:r>
            <a:r>
              <a:rPr lang="fi-FI" sz="1400" dirty="0"/>
              <a:t>(data, </a:t>
            </a:r>
            <a:r>
              <a:rPr lang="fi-FI" sz="1400" dirty="0" err="1"/>
              <a:t>low</a:t>
            </a:r>
            <a:r>
              <a:rPr lang="fi-FI" sz="1400" dirty="0"/>
              <a:t>, </a:t>
            </a:r>
            <a:r>
              <a:rPr lang="fi-FI" sz="1400" dirty="0" err="1"/>
              <a:t>index</a:t>
            </a:r>
            <a:r>
              <a:rPr lang="fi-FI" sz="1400" dirty="0"/>
              <a:t> - 1);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optimizedQuickSort</a:t>
            </a:r>
            <a:r>
              <a:rPr lang="fi-FI" sz="1400" dirty="0"/>
              <a:t>(data, </a:t>
            </a:r>
            <a:r>
              <a:rPr lang="fi-FI" sz="1400" dirty="0" err="1"/>
              <a:t>index</a:t>
            </a:r>
            <a:r>
              <a:rPr lang="fi-FI" sz="1400" dirty="0"/>
              <a:t> + 1, </a:t>
            </a:r>
            <a:r>
              <a:rPr lang="fi-FI" sz="1400" dirty="0" err="1"/>
              <a:t>high</a:t>
            </a:r>
            <a:r>
              <a:rPr lang="fi-FI" sz="1400" dirty="0"/>
              <a:t>);</a:t>
            </a:r>
          </a:p>
          <a:p>
            <a:r>
              <a:rPr lang="fi-FI" sz="1400" dirty="0"/>
              <a:t>        }</a:t>
            </a:r>
          </a:p>
        </p:txBody>
      </p:sp>
    </p:spTree>
    <p:extLst>
      <p:ext uri="{BB962C8B-B14F-4D97-AF65-F5344CB8AC3E}">
        <p14:creationId xmlns:p14="http://schemas.microsoft.com/office/powerpoint/2010/main" val="236538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687B6FA4-5512-90B3-DB23-3A05DF945819}"/>
              </a:ext>
            </a:extLst>
          </p:cNvPr>
          <p:cNvSpPr txBox="1"/>
          <p:nvPr/>
        </p:nvSpPr>
        <p:spPr>
          <a:xfrm>
            <a:off x="3316489" y="436098"/>
            <a:ext cx="55590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800" dirty="0" err="1"/>
              <a:t>Quick</a:t>
            </a:r>
            <a:r>
              <a:rPr lang="fi-FI" sz="2800" dirty="0"/>
              <a:t> </a:t>
            </a:r>
            <a:r>
              <a:rPr lang="fi-FI" sz="2800" dirty="0" err="1"/>
              <a:t>Sort</a:t>
            </a:r>
            <a:r>
              <a:rPr lang="fi-FI" sz="2800" dirty="0"/>
              <a:t> </a:t>
            </a:r>
            <a:r>
              <a:rPr lang="fi-FI" sz="2800" dirty="0" err="1"/>
              <a:t>vs</a:t>
            </a:r>
            <a:r>
              <a:rPr lang="fi-FI" sz="2800" dirty="0"/>
              <a:t> Optimoitu </a:t>
            </a:r>
            <a:r>
              <a:rPr lang="fi-FI" sz="2800" dirty="0" err="1"/>
              <a:t>Quick</a:t>
            </a:r>
            <a:r>
              <a:rPr lang="fi-FI" sz="2800" dirty="0"/>
              <a:t> </a:t>
            </a:r>
            <a:r>
              <a:rPr lang="fi-FI" sz="2800" dirty="0" err="1"/>
              <a:t>Sort</a:t>
            </a:r>
            <a:endParaRPr lang="fi-FI" sz="2800" dirty="0"/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B6852150-97D0-72C2-281B-8824704D23A2}"/>
              </a:ext>
            </a:extLst>
          </p:cNvPr>
          <p:cNvSpPr txBox="1"/>
          <p:nvPr/>
        </p:nvSpPr>
        <p:spPr>
          <a:xfrm>
            <a:off x="4166425" y="1235122"/>
            <a:ext cx="38591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Random: </a:t>
            </a:r>
          </a:p>
          <a:p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27,550ms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32,031ms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3D0FC739-F227-0CE0-D475-EDB33CF7A652}"/>
              </a:ext>
            </a:extLst>
          </p:cNvPr>
          <p:cNvSpPr txBox="1"/>
          <p:nvPr/>
        </p:nvSpPr>
        <p:spPr>
          <a:xfrm>
            <a:off x="4116233" y="2435451"/>
            <a:ext cx="38591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Nouseva: 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44287,423ms</a:t>
            </a:r>
          </a:p>
          <a:p>
            <a:r>
              <a:rPr lang="fi-FI" b="1" dirty="0" err="1"/>
              <a:t>Optimized</a:t>
            </a:r>
            <a:r>
              <a:rPr lang="fi-FI" b="1" dirty="0"/>
              <a:t> </a:t>
            </a:r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9,336ms</a:t>
            </a: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115CCFCD-5623-6B9B-7FB9-4DA7335EACB2}"/>
              </a:ext>
            </a:extLst>
          </p:cNvPr>
          <p:cNvSpPr txBox="1"/>
          <p:nvPr/>
        </p:nvSpPr>
        <p:spPr>
          <a:xfrm flipH="1">
            <a:off x="4116232" y="3911584"/>
            <a:ext cx="36772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Laskeva: 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19471,239ms</a:t>
            </a:r>
          </a:p>
          <a:p>
            <a:r>
              <a:rPr lang="fi-FI" b="1" dirty="0" err="1"/>
              <a:t>Optimized</a:t>
            </a:r>
            <a:r>
              <a:rPr lang="fi-FI" b="1" dirty="0"/>
              <a:t> </a:t>
            </a:r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9,673ms</a:t>
            </a:r>
          </a:p>
        </p:txBody>
      </p:sp>
    </p:spTree>
    <p:extLst>
      <p:ext uri="{BB962C8B-B14F-4D97-AF65-F5344CB8AC3E}">
        <p14:creationId xmlns:p14="http://schemas.microsoft.com/office/powerpoint/2010/main" val="2984234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272C8927-5E3C-EC87-7CB8-7B90769F20CB}"/>
              </a:ext>
            </a:extLst>
          </p:cNvPr>
          <p:cNvSpPr txBox="1"/>
          <p:nvPr/>
        </p:nvSpPr>
        <p:spPr>
          <a:xfrm>
            <a:off x="3636436" y="217211"/>
            <a:ext cx="4919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2800" b="1" dirty="0"/>
              <a:t>Algoritmien aikavaatimukset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343B529F-445D-67B8-9EF4-96C34C1521C7}"/>
              </a:ext>
            </a:extLst>
          </p:cNvPr>
          <p:cNvSpPr txBox="1"/>
          <p:nvPr/>
        </p:nvSpPr>
        <p:spPr>
          <a:xfrm>
            <a:off x="2691156" y="1373160"/>
            <a:ext cx="340484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b="1" dirty="0"/>
              <a:t>Random datalla:</a:t>
            </a:r>
          </a:p>
          <a:p>
            <a:endParaRPr lang="fi-FI" b="1" dirty="0"/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11368,485ms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116265,203ms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41,431ms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27,550ms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32,031ms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44,241ms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33,275ms</a:t>
            </a:r>
          </a:p>
          <a:p>
            <a:endParaRPr lang="fi-FI" dirty="0"/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98CEA4C2-B349-75FF-08E5-25B0E0594098}"/>
              </a:ext>
            </a:extLst>
          </p:cNvPr>
          <p:cNvSpPr txBox="1"/>
          <p:nvPr/>
        </p:nvSpPr>
        <p:spPr>
          <a:xfrm>
            <a:off x="6096001" y="1373160"/>
            <a:ext cx="60959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Aikavaatimukset:</a:t>
            </a:r>
          </a:p>
          <a:p>
            <a:endParaRPr lang="fi-FI" b="1" dirty="0"/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aina O(n^2)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aina O(n^2)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KA. O(n^1.5)*, huonoin O(n^2)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KA. O(</a:t>
            </a:r>
            <a:r>
              <a:rPr lang="fi-FI" dirty="0" err="1"/>
              <a:t>nlogn</a:t>
            </a:r>
            <a:r>
              <a:rPr lang="fi-FI" dirty="0"/>
              <a:t>), huonoin O(n^2)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O(</a:t>
            </a:r>
            <a:r>
              <a:rPr lang="fi-FI" dirty="0" err="1"/>
              <a:t>nlogn</a:t>
            </a:r>
            <a:r>
              <a:rPr lang="fi-FI" dirty="0"/>
              <a:t>), huonoin O(n^2)**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aina O(</a:t>
            </a:r>
            <a:r>
              <a:rPr lang="fi-FI" dirty="0" err="1"/>
              <a:t>nlogn</a:t>
            </a:r>
            <a:r>
              <a:rPr lang="fi-FI" dirty="0"/>
              <a:t>)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aina O(</a:t>
            </a:r>
            <a:r>
              <a:rPr lang="fi-FI" dirty="0" err="1"/>
              <a:t>nlogn</a:t>
            </a:r>
            <a:r>
              <a:rPr lang="fi-FI" dirty="0"/>
              <a:t>)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5C0D7358-585A-408D-F2B4-8B10563F877E}"/>
              </a:ext>
            </a:extLst>
          </p:cNvPr>
          <p:cNvSpPr txBox="1"/>
          <p:nvPr/>
        </p:nvSpPr>
        <p:spPr>
          <a:xfrm>
            <a:off x="2886501" y="4524233"/>
            <a:ext cx="56690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* Riippuu valitusta aloitusvälistä, tässä se on n/2</a:t>
            </a:r>
          </a:p>
          <a:p>
            <a:r>
              <a:rPr lang="fi-FI" dirty="0"/>
              <a:t>** Käytännössä mahdoton, huonoimman mahdollisen tapauksen todennäköisyys  (2^(n – 1)) / n!,  esim. 20 alkiolla </a:t>
            </a:r>
            <a:r>
              <a:rPr lang="fi-FI" dirty="0" err="1"/>
              <a:t>todennäköissys</a:t>
            </a:r>
            <a:r>
              <a:rPr lang="fi-FI" dirty="0"/>
              <a:t> n. 1 / 4 600 000 000 000</a:t>
            </a:r>
          </a:p>
        </p:txBody>
      </p:sp>
    </p:spTree>
    <p:extLst>
      <p:ext uri="{BB962C8B-B14F-4D97-AF65-F5344CB8AC3E}">
        <p14:creationId xmlns:p14="http://schemas.microsoft.com/office/powerpoint/2010/main" val="958200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760</Words>
  <Application>Microsoft Office PowerPoint</Application>
  <PresentationFormat>Laajakuva</PresentationFormat>
  <Paragraphs>118</Paragraphs>
  <Slides>6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3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Office-teema</vt:lpstr>
      <vt:lpstr>PowerPoint-esitys</vt:lpstr>
      <vt:lpstr>PowerPoint-esitys</vt:lpstr>
      <vt:lpstr>PowerPoint-esitys</vt:lpstr>
      <vt:lpstr>PowerPoint-esitys</vt:lpstr>
      <vt:lpstr>PowerPoint-esitys</vt:lpstr>
      <vt:lpstr>PowerPoint-esitys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Keskinen, Niilo</dc:creator>
  <cp:lastModifiedBy>Keskinen, Niilo</cp:lastModifiedBy>
  <cp:revision>6</cp:revision>
  <dcterms:created xsi:type="dcterms:W3CDTF">2026-01-20T09:24:04Z</dcterms:created>
  <dcterms:modified xsi:type="dcterms:W3CDTF">2026-01-20T10:17:43Z</dcterms:modified>
</cp:coreProperties>
</file>