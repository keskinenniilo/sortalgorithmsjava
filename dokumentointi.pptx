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fi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8" d="100"/>
          <a:sy n="68" d="100"/>
        </p:scale>
        <p:origin x="582" y="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tsikko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9803076B-A58D-7FB8-AB83-B4517BFBFD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Alaotsikko 2">
            <a:extLst>
              <a:ext uri="{FF2B5EF4-FFF2-40B4-BE49-F238E27FC236}">
                <a16:creationId xmlns:a16="http://schemas.microsoft.com/office/drawing/2014/main" id="{400E546F-D0D3-3443-DC1F-C31C865D6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i-FI"/>
              <a:t>Muokkaa alaotsikon perustyyliä napsautt.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66FAE4C9-DC9E-A5EC-0D1A-C1C08FC2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09D2EA34-D8D7-8B32-2136-2773E798C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3C9ECAA4-CFB7-CE7E-ACAB-D676B1F1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570062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tsikko ja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48F9E4DB-89D2-6977-D911-C6E68A7B2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E76E1F27-D2F1-E7F0-BF99-CAB109BDB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8CFB8784-680C-F492-0076-16183E5A7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C41238D5-6B2C-AB94-D05D-4301BA4E8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48CCA441-DAF3-6917-66E5-B402A6189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987224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san ylätunni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E3462768-BC57-AF97-1CF4-96842282F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4624CF31-0AC3-B5F0-8411-CFAC8AD9AA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4EC55FA0-6543-7BD2-E433-BE4562C4F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C7BC4004-8946-DAD8-F3F5-F5A083E0E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914F8CBA-0B74-C3F2-F313-F28D7E8FA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243232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Kaksi sisältökohdet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31CD1B7B-AFD6-ED81-B832-9A0EBB71D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A308C467-54A7-F1B5-053E-5D30A102A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Sisällön paikkamerkki 3">
            <a:extLst>
              <a:ext uri="{FF2B5EF4-FFF2-40B4-BE49-F238E27FC236}">
                <a16:creationId xmlns:a16="http://schemas.microsoft.com/office/drawing/2014/main" id="{FF59A83F-EACC-1D39-9601-DFF8845065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C4ADE8E0-0A13-7EBB-A45F-7619995E5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036439D5-C62C-306E-844C-B3A4DA849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F098095B-FC49-BE8B-AB99-1A15FB835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499673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tai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A66D7389-5EE0-F293-02E2-0A818ABA2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477E42EA-5602-432C-EAF9-29FAD68914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4" name="Sisällön paikkamerkki 3">
            <a:extLst>
              <a:ext uri="{FF2B5EF4-FFF2-40B4-BE49-F238E27FC236}">
                <a16:creationId xmlns:a16="http://schemas.microsoft.com/office/drawing/2014/main" id="{D2175114-66DB-D460-9339-9BA8904AF6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5" name="Tekstin paikkamerkki 4">
            <a:extLst>
              <a:ext uri="{FF2B5EF4-FFF2-40B4-BE49-F238E27FC236}">
                <a16:creationId xmlns:a16="http://schemas.microsoft.com/office/drawing/2014/main" id="{CB574777-0675-C891-CA1A-02631B0B4A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6" name="Sisällön paikkamerkki 5">
            <a:extLst>
              <a:ext uri="{FF2B5EF4-FFF2-40B4-BE49-F238E27FC236}">
                <a16:creationId xmlns:a16="http://schemas.microsoft.com/office/drawing/2014/main" id="{D85696FD-E050-5B77-0D49-F7213683FB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7" name="Päivämäärän paikkamerkki 6">
            <a:extLst>
              <a:ext uri="{FF2B5EF4-FFF2-40B4-BE49-F238E27FC236}">
                <a16:creationId xmlns:a16="http://schemas.microsoft.com/office/drawing/2014/main" id="{A3887830-2CC0-5984-4657-32A5D477C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8" name="Alatunnisteen paikkamerkki 7">
            <a:extLst>
              <a:ext uri="{FF2B5EF4-FFF2-40B4-BE49-F238E27FC236}">
                <a16:creationId xmlns:a16="http://schemas.microsoft.com/office/drawing/2014/main" id="{984B4269-DBF3-2F8F-703A-7952EC924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9" name="Dian numeron paikkamerkki 8">
            <a:extLst>
              <a:ext uri="{FF2B5EF4-FFF2-40B4-BE49-F238E27FC236}">
                <a16:creationId xmlns:a16="http://schemas.microsoft.com/office/drawing/2014/main" id="{60B9C948-BE21-C435-9EEF-3FF46B445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362513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Vain otsikk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0C887F6F-D3C8-9241-AFD3-0A20A51D7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äivämäärän paikkamerkki 2">
            <a:extLst>
              <a:ext uri="{FF2B5EF4-FFF2-40B4-BE49-F238E27FC236}">
                <a16:creationId xmlns:a16="http://schemas.microsoft.com/office/drawing/2014/main" id="{F43221CA-BF7C-39B7-3FD8-AAA4A4880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4" name="Alatunnisteen paikkamerkki 3">
            <a:extLst>
              <a:ext uri="{FF2B5EF4-FFF2-40B4-BE49-F238E27FC236}">
                <a16:creationId xmlns:a16="http://schemas.microsoft.com/office/drawing/2014/main" id="{9F06E898-686F-223E-410C-DED0676EE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5" name="Dian numeron paikkamerkki 4">
            <a:extLst>
              <a:ext uri="{FF2B5EF4-FFF2-40B4-BE49-F238E27FC236}">
                <a16:creationId xmlns:a16="http://schemas.microsoft.com/office/drawing/2014/main" id="{966F41B8-9400-4EEC-3141-D11673797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113056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yhj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>
            <a:extLst>
              <a:ext uri="{FF2B5EF4-FFF2-40B4-BE49-F238E27FC236}">
                <a16:creationId xmlns:a16="http://schemas.microsoft.com/office/drawing/2014/main" id="{DA670B8B-959B-2190-B8F6-63DEDE29A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3" name="Alatunnisteen paikkamerkki 2">
            <a:extLst>
              <a:ext uri="{FF2B5EF4-FFF2-40B4-BE49-F238E27FC236}">
                <a16:creationId xmlns:a16="http://schemas.microsoft.com/office/drawing/2014/main" id="{D0555112-65DD-23AA-000B-471938914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4" name="Dian numeron paikkamerkki 3">
            <a:extLst>
              <a:ext uri="{FF2B5EF4-FFF2-40B4-BE49-F238E27FC236}">
                <a16:creationId xmlns:a16="http://schemas.microsoft.com/office/drawing/2014/main" id="{0B1100B4-4086-D598-EB23-D4B4131FE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14122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Kuvatekstillinen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6FEC8C5E-C823-2AE2-7312-7092C50EC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7210E039-5B2A-0B09-9D99-7EC31E37D7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Tekstin paikkamerkki 3">
            <a:extLst>
              <a:ext uri="{FF2B5EF4-FFF2-40B4-BE49-F238E27FC236}">
                <a16:creationId xmlns:a16="http://schemas.microsoft.com/office/drawing/2014/main" id="{8A0A88D3-5CF2-2DA8-11B8-E6369DE7E2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620B3CF6-D029-741E-0315-D287AAAAE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2A0097C0-99B4-A3F2-0D5A-C86ECD716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3D0B0ED2-B6BD-5647-F2B6-ABC5ACA8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1820215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uvatekstillinen ku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DF5069C3-0ED7-E481-0F82-C64CD82E5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i-FI"/>
              <a:t>Muokkaa ots. perustyyl. napsautt.</a:t>
            </a:r>
          </a:p>
        </p:txBody>
      </p:sp>
      <p:sp>
        <p:nvSpPr>
          <p:cNvPr id="3" name="Kuvan paikkamerkki 2">
            <a:extLst>
              <a:ext uri="{FF2B5EF4-FFF2-40B4-BE49-F238E27FC236}">
                <a16:creationId xmlns:a16="http://schemas.microsoft.com/office/drawing/2014/main" id="{B82BBAC6-9477-D848-0F65-85300674C5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i-FI"/>
          </a:p>
        </p:txBody>
      </p:sp>
      <p:sp>
        <p:nvSpPr>
          <p:cNvPr id="4" name="Tekstin paikkamerkki 3">
            <a:extLst>
              <a:ext uri="{FF2B5EF4-FFF2-40B4-BE49-F238E27FC236}">
                <a16:creationId xmlns:a16="http://schemas.microsoft.com/office/drawing/2014/main" id="{E021899E-FB99-CA9E-6E43-A227315D4B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06966DCA-07CD-2DBC-B16D-EA0B20EE0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7A0F3266-6332-4B72-21A0-72BB1121A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E224DADD-F8DD-A3B2-A38E-C9945B884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2846476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Otsikko ja pystysuora tek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78993A7D-8AF1-350D-9011-5D4BAF204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ystysuoran tekstin paikkamerkki 2">
            <a:extLst>
              <a:ext uri="{FF2B5EF4-FFF2-40B4-BE49-F238E27FC236}">
                <a16:creationId xmlns:a16="http://schemas.microsoft.com/office/drawing/2014/main" id="{6D208CC6-4408-4CA8-D20D-BE6D2FE2E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F8073D4F-2A60-5CA2-8A16-6D7D45F15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7CE5ADF3-7B89-56CB-1E01-F87ECBB6A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4A813941-3CE1-9ED5-4D11-7647330AB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632409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Pystysuora otsikko ja tek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ystysuora otsikko 1">
            <a:extLst>
              <a:ext uri="{FF2B5EF4-FFF2-40B4-BE49-F238E27FC236}">
                <a16:creationId xmlns:a16="http://schemas.microsoft.com/office/drawing/2014/main" id="{7C92E4E0-BE16-A683-3081-515E4F62C6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Pystysuoran tekstin paikkamerkki 2">
            <a:extLst>
              <a:ext uri="{FF2B5EF4-FFF2-40B4-BE49-F238E27FC236}">
                <a16:creationId xmlns:a16="http://schemas.microsoft.com/office/drawing/2014/main" id="{B6AE1111-BB5C-51CE-A53E-451211F891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7473F9D7-CD77-7B01-B77C-5D6FC2B81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8BD36E2A-C379-F3BA-F755-E9FAB230C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6263E469-4F2D-8FFA-525D-8D3FE0A72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940045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on paikkamerkki 1">
            <a:extLst>
              <a:ext uri="{FF2B5EF4-FFF2-40B4-BE49-F238E27FC236}">
                <a16:creationId xmlns:a16="http://schemas.microsoft.com/office/drawing/2014/main" id="{250FB2D2-3B5C-B073-60A1-F25C82ADD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i-FI"/>
              <a:t>Muokkaa ots. perustyyl. napsautt.</a:t>
            </a:r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6CF511B9-D0A2-994E-D205-99F82CA11D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20C58801-C1C0-8D1C-791E-81EEEEADDC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4F99CC-D3B6-422F-89CD-7DB5A310BDEB}" type="datetimeFigureOut">
              <a:rPr lang="fi-FI" smtClean="0"/>
              <a:t>20.1.2026</a:t>
            </a:fld>
            <a:endParaRPr lang="fi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8197D648-768C-41FE-F258-D7A79ED4E4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i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7CA9F3B2-C97A-9756-4D30-12BD6701D4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8DAE20-4EDA-4EA7-B61C-B417680CE03B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8867567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i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iruutu 1">
            <a:extLst>
              <a:ext uri="{FF2B5EF4-FFF2-40B4-BE49-F238E27FC236}">
                <a16:creationId xmlns:a16="http://schemas.microsoft.com/office/drawing/2014/main" id="{AFC60D8F-D958-2FD1-7804-55854E962845}"/>
              </a:ext>
            </a:extLst>
          </p:cNvPr>
          <p:cNvSpPr txBox="1"/>
          <p:nvPr/>
        </p:nvSpPr>
        <p:spPr>
          <a:xfrm>
            <a:off x="423082" y="2149522"/>
            <a:ext cx="328228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dirty="0"/>
              <a:t>Random: </a:t>
            </a:r>
          </a:p>
          <a:p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20,300ms</a:t>
            </a:r>
          </a:p>
          <a:p>
            <a:r>
              <a:rPr lang="fi-FI" dirty="0" err="1"/>
              <a:t>Bubble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58,329ms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3,358ms</a:t>
            </a:r>
          </a:p>
          <a:p>
            <a:r>
              <a:rPr lang="fi-FI" b="1" dirty="0" err="1"/>
              <a:t>Quick</a:t>
            </a:r>
            <a:r>
              <a:rPr lang="fi-FI" b="1" dirty="0"/>
              <a:t> </a:t>
            </a:r>
            <a:r>
              <a:rPr lang="fi-FI" b="1" dirty="0" err="1"/>
              <a:t>Sort</a:t>
            </a:r>
            <a:r>
              <a:rPr lang="fi-FI" b="1" dirty="0"/>
              <a:t>: 2,151ms</a:t>
            </a:r>
            <a:endParaRPr lang="fi-FI" dirty="0"/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2,694ms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2,758ms</a:t>
            </a:r>
          </a:p>
          <a:p>
            <a:r>
              <a:rPr lang="fi-FI" dirty="0"/>
              <a:t>Java </a:t>
            </a:r>
            <a:r>
              <a:rPr lang="fi-FI" dirty="0" err="1"/>
              <a:t>Arrays.sort</a:t>
            </a:r>
            <a:r>
              <a:rPr lang="fi-FI" dirty="0"/>
              <a:t>: 9,078ms</a:t>
            </a:r>
          </a:p>
        </p:txBody>
      </p:sp>
      <p:sp>
        <p:nvSpPr>
          <p:cNvPr id="3" name="Tekstiruutu 2">
            <a:extLst>
              <a:ext uri="{FF2B5EF4-FFF2-40B4-BE49-F238E27FC236}">
                <a16:creationId xmlns:a16="http://schemas.microsoft.com/office/drawing/2014/main" id="{B2FE3428-3248-575F-CD86-AFBBD47A1B0A}"/>
              </a:ext>
            </a:extLst>
          </p:cNvPr>
          <p:cNvSpPr txBox="1"/>
          <p:nvPr/>
        </p:nvSpPr>
        <p:spPr>
          <a:xfrm flipH="1">
            <a:off x="8140889" y="2149522"/>
            <a:ext cx="328228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dirty="0"/>
              <a:t>Laskeva</a:t>
            </a:r>
          </a:p>
          <a:p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34,921ms</a:t>
            </a:r>
          </a:p>
          <a:p>
            <a:r>
              <a:rPr lang="fi-FI" dirty="0" err="1"/>
              <a:t>Bubble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79,532ms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0,355ms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31,412ms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0,374ms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0,491ms</a:t>
            </a:r>
          </a:p>
          <a:p>
            <a:r>
              <a:rPr lang="fi-FI" b="1" dirty="0"/>
              <a:t>Java </a:t>
            </a:r>
            <a:r>
              <a:rPr lang="fi-FI" b="1" dirty="0" err="1"/>
              <a:t>Arrays.sort</a:t>
            </a:r>
            <a:r>
              <a:rPr lang="fi-FI" b="1" dirty="0"/>
              <a:t>: 0,220ms</a:t>
            </a:r>
            <a:endParaRPr lang="fi-FI" dirty="0"/>
          </a:p>
          <a:p>
            <a:endParaRPr lang="fi-FI" dirty="0"/>
          </a:p>
        </p:txBody>
      </p:sp>
      <p:sp>
        <p:nvSpPr>
          <p:cNvPr id="4" name="Tekstiruutu 3">
            <a:extLst>
              <a:ext uri="{FF2B5EF4-FFF2-40B4-BE49-F238E27FC236}">
                <a16:creationId xmlns:a16="http://schemas.microsoft.com/office/drawing/2014/main" id="{BF916D61-A1B7-829B-711C-9FA05545B0A0}"/>
              </a:ext>
            </a:extLst>
          </p:cNvPr>
          <p:cNvSpPr txBox="1"/>
          <p:nvPr/>
        </p:nvSpPr>
        <p:spPr>
          <a:xfrm>
            <a:off x="4601570" y="2149522"/>
            <a:ext cx="298886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dirty="0"/>
              <a:t>Nouseva</a:t>
            </a:r>
          </a:p>
          <a:p>
            <a:r>
              <a:rPr lang="fi-FI" b="1" dirty="0" err="1"/>
              <a:t>Insertion</a:t>
            </a:r>
            <a:r>
              <a:rPr lang="fi-FI" b="1" dirty="0"/>
              <a:t> </a:t>
            </a:r>
            <a:r>
              <a:rPr lang="fi-FI" b="1" dirty="0" err="1"/>
              <a:t>Sort</a:t>
            </a:r>
            <a:r>
              <a:rPr lang="fi-FI" b="1" dirty="0"/>
              <a:t>: 0,032ms</a:t>
            </a:r>
            <a:endParaRPr lang="fi-FI" dirty="0"/>
          </a:p>
          <a:p>
            <a:r>
              <a:rPr lang="fi-FI" dirty="0" err="1"/>
              <a:t>Bubble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0,083ms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0,362ms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62,482ms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0,348ms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0,438ms</a:t>
            </a:r>
          </a:p>
          <a:p>
            <a:r>
              <a:rPr lang="fi-FI" dirty="0"/>
              <a:t>Java </a:t>
            </a:r>
            <a:r>
              <a:rPr lang="fi-FI" dirty="0" err="1"/>
              <a:t>Arrays.sort</a:t>
            </a:r>
            <a:r>
              <a:rPr lang="fi-FI" dirty="0"/>
              <a:t>: 0,112ms</a:t>
            </a:r>
          </a:p>
          <a:p>
            <a:endParaRPr lang="fi-FI" dirty="0"/>
          </a:p>
        </p:txBody>
      </p:sp>
      <p:sp>
        <p:nvSpPr>
          <p:cNvPr id="5" name="Tekstiruutu 4">
            <a:extLst>
              <a:ext uri="{FF2B5EF4-FFF2-40B4-BE49-F238E27FC236}">
                <a16:creationId xmlns:a16="http://schemas.microsoft.com/office/drawing/2014/main" id="{B614AB1C-E45B-5D56-6002-38582987E0E7}"/>
              </a:ext>
            </a:extLst>
          </p:cNvPr>
          <p:cNvSpPr txBox="1"/>
          <p:nvPr/>
        </p:nvSpPr>
        <p:spPr>
          <a:xfrm>
            <a:off x="3951027" y="1057701"/>
            <a:ext cx="30707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3600" dirty="0"/>
              <a:t>10 000 Alkiota</a:t>
            </a:r>
          </a:p>
        </p:txBody>
      </p:sp>
    </p:spTree>
    <p:extLst>
      <p:ext uri="{BB962C8B-B14F-4D97-AF65-F5344CB8AC3E}">
        <p14:creationId xmlns:p14="http://schemas.microsoft.com/office/powerpoint/2010/main" val="2236255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BE3F1-E8AA-64DC-C3F1-5C4FA558D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iruutu 1">
            <a:extLst>
              <a:ext uri="{FF2B5EF4-FFF2-40B4-BE49-F238E27FC236}">
                <a16:creationId xmlns:a16="http://schemas.microsoft.com/office/drawing/2014/main" id="{B2BF1B61-63DB-762D-AC5F-8E90E667EF87}"/>
              </a:ext>
            </a:extLst>
          </p:cNvPr>
          <p:cNvSpPr txBox="1"/>
          <p:nvPr/>
        </p:nvSpPr>
        <p:spPr>
          <a:xfrm>
            <a:off x="423082" y="2149522"/>
            <a:ext cx="328228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dirty="0"/>
              <a:t>Random: </a:t>
            </a:r>
          </a:p>
          <a:p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11368,485ms</a:t>
            </a:r>
          </a:p>
          <a:p>
            <a:r>
              <a:rPr lang="fi-FI" dirty="0" err="1"/>
              <a:t>Bubble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116265,203ms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41,431ms</a:t>
            </a:r>
          </a:p>
          <a:p>
            <a:r>
              <a:rPr lang="fi-FI" b="1" dirty="0" err="1"/>
              <a:t>Quick</a:t>
            </a:r>
            <a:r>
              <a:rPr lang="fi-FI" b="1" dirty="0"/>
              <a:t> </a:t>
            </a:r>
            <a:r>
              <a:rPr lang="fi-FI" b="1" dirty="0" err="1"/>
              <a:t>Sort</a:t>
            </a:r>
            <a:r>
              <a:rPr lang="fi-FI" b="1" dirty="0"/>
              <a:t>: 27,550ms</a:t>
            </a:r>
            <a:endParaRPr lang="fi-FI" dirty="0"/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32,031ms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44,241ms</a:t>
            </a:r>
          </a:p>
          <a:p>
            <a:r>
              <a:rPr lang="fi-FI" dirty="0"/>
              <a:t>Java </a:t>
            </a:r>
            <a:r>
              <a:rPr lang="fi-FI" dirty="0" err="1"/>
              <a:t>Arrays.sort</a:t>
            </a:r>
            <a:r>
              <a:rPr lang="fi-FI" dirty="0"/>
              <a:t>: 33,275ms</a:t>
            </a:r>
          </a:p>
        </p:txBody>
      </p:sp>
      <p:sp>
        <p:nvSpPr>
          <p:cNvPr id="3" name="Tekstiruutu 2">
            <a:extLst>
              <a:ext uri="{FF2B5EF4-FFF2-40B4-BE49-F238E27FC236}">
                <a16:creationId xmlns:a16="http://schemas.microsoft.com/office/drawing/2014/main" id="{A2242C55-D625-4102-45CB-F017F9FEF94F}"/>
              </a:ext>
            </a:extLst>
          </p:cNvPr>
          <p:cNvSpPr txBox="1"/>
          <p:nvPr/>
        </p:nvSpPr>
        <p:spPr>
          <a:xfrm flipH="1">
            <a:off x="8140889" y="2149522"/>
            <a:ext cx="328228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dirty="0"/>
              <a:t>Laskeva: </a:t>
            </a:r>
          </a:p>
          <a:p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8082,202ms</a:t>
            </a:r>
          </a:p>
          <a:p>
            <a:r>
              <a:rPr lang="fi-FI" dirty="0" err="1"/>
              <a:t>Bubble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50512,729ms</a:t>
            </a:r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8,338ms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19471,239ms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9,673ms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10,539ms</a:t>
            </a:r>
          </a:p>
          <a:p>
            <a:r>
              <a:rPr lang="fi-FI" b="1" dirty="0"/>
              <a:t>Java </a:t>
            </a:r>
            <a:r>
              <a:rPr lang="fi-FI" b="1" dirty="0" err="1"/>
              <a:t>Arrays.sort</a:t>
            </a:r>
            <a:r>
              <a:rPr lang="fi-FI" b="1" dirty="0"/>
              <a:t>: 5,243ms</a:t>
            </a:r>
            <a:endParaRPr lang="fi-FI" dirty="0"/>
          </a:p>
        </p:txBody>
      </p:sp>
      <p:sp>
        <p:nvSpPr>
          <p:cNvPr id="4" name="Tekstiruutu 3">
            <a:extLst>
              <a:ext uri="{FF2B5EF4-FFF2-40B4-BE49-F238E27FC236}">
                <a16:creationId xmlns:a16="http://schemas.microsoft.com/office/drawing/2014/main" id="{7DA3D183-30BC-4B78-55D1-FF8E183AD5A0}"/>
              </a:ext>
            </a:extLst>
          </p:cNvPr>
          <p:cNvSpPr txBox="1"/>
          <p:nvPr/>
        </p:nvSpPr>
        <p:spPr>
          <a:xfrm>
            <a:off x="4601570" y="2149522"/>
            <a:ext cx="298886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dirty="0"/>
              <a:t>Nouseva: </a:t>
            </a:r>
          </a:p>
          <a:p>
            <a:r>
              <a:rPr lang="fi-FI" dirty="0" err="1"/>
              <a:t>Insertion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0,872ms</a:t>
            </a:r>
          </a:p>
          <a:p>
            <a:r>
              <a:rPr lang="fi-FI" b="1" dirty="0" err="1"/>
              <a:t>Bubble</a:t>
            </a:r>
            <a:r>
              <a:rPr lang="fi-FI" b="1" dirty="0"/>
              <a:t> </a:t>
            </a:r>
            <a:r>
              <a:rPr lang="fi-FI" b="1" dirty="0" err="1"/>
              <a:t>Sort</a:t>
            </a:r>
            <a:r>
              <a:rPr lang="fi-FI" b="1" dirty="0"/>
              <a:t>: 0,352ms</a:t>
            </a:r>
            <a:endParaRPr lang="fi-FI" dirty="0"/>
          </a:p>
          <a:p>
            <a:r>
              <a:rPr lang="fi-FI" dirty="0"/>
              <a:t>Shell </a:t>
            </a:r>
            <a:r>
              <a:rPr lang="fi-FI" dirty="0" err="1"/>
              <a:t>Sort</a:t>
            </a:r>
            <a:r>
              <a:rPr lang="fi-FI" dirty="0"/>
              <a:t>: 4,289ms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44287,423ms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9,336ms</a:t>
            </a:r>
          </a:p>
          <a:p>
            <a:r>
              <a:rPr lang="fi-FI" dirty="0" err="1"/>
              <a:t>Merge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12,814ms</a:t>
            </a:r>
          </a:p>
          <a:p>
            <a:r>
              <a:rPr lang="fi-FI" dirty="0"/>
              <a:t>Java </a:t>
            </a:r>
            <a:r>
              <a:rPr lang="fi-FI" dirty="0" err="1"/>
              <a:t>Arrays.sort</a:t>
            </a:r>
            <a:r>
              <a:rPr lang="fi-FI" dirty="0"/>
              <a:t>: 2,524ms</a:t>
            </a:r>
          </a:p>
        </p:txBody>
      </p:sp>
      <p:sp>
        <p:nvSpPr>
          <p:cNvPr id="5" name="Tekstiruutu 4">
            <a:extLst>
              <a:ext uri="{FF2B5EF4-FFF2-40B4-BE49-F238E27FC236}">
                <a16:creationId xmlns:a16="http://schemas.microsoft.com/office/drawing/2014/main" id="{46522BD6-BFAF-5D10-29AC-54002D3DACAF}"/>
              </a:ext>
            </a:extLst>
          </p:cNvPr>
          <p:cNvSpPr txBox="1"/>
          <p:nvPr/>
        </p:nvSpPr>
        <p:spPr>
          <a:xfrm>
            <a:off x="4039737" y="880280"/>
            <a:ext cx="41011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3600" dirty="0"/>
              <a:t>250 000 Alkiota</a:t>
            </a:r>
          </a:p>
        </p:txBody>
      </p:sp>
    </p:spTree>
    <p:extLst>
      <p:ext uri="{BB962C8B-B14F-4D97-AF65-F5344CB8AC3E}">
        <p14:creationId xmlns:p14="http://schemas.microsoft.com/office/powerpoint/2010/main" val="2788372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iruutu 1">
            <a:extLst>
              <a:ext uri="{FF2B5EF4-FFF2-40B4-BE49-F238E27FC236}">
                <a16:creationId xmlns:a16="http://schemas.microsoft.com/office/drawing/2014/main" id="{AF93C99B-5A88-0A6D-D5A2-72555C60C0A5}"/>
              </a:ext>
            </a:extLst>
          </p:cNvPr>
          <p:cNvSpPr txBox="1"/>
          <p:nvPr/>
        </p:nvSpPr>
        <p:spPr>
          <a:xfrm>
            <a:off x="1589964" y="648269"/>
            <a:ext cx="96809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sz="3200" dirty="0"/>
              <a:t>Käytin funktioiden testaamiseen </a:t>
            </a:r>
            <a:r>
              <a:rPr lang="fi-FI" sz="3200" dirty="0" err="1"/>
              <a:t>function</a:t>
            </a:r>
            <a:r>
              <a:rPr lang="fi-FI" sz="3200" dirty="0"/>
              <a:t> pointtereita:</a:t>
            </a:r>
          </a:p>
        </p:txBody>
      </p:sp>
      <p:sp>
        <p:nvSpPr>
          <p:cNvPr id="3" name="Tekstiruutu 2">
            <a:extLst>
              <a:ext uri="{FF2B5EF4-FFF2-40B4-BE49-F238E27FC236}">
                <a16:creationId xmlns:a16="http://schemas.microsoft.com/office/drawing/2014/main" id="{530ADD85-1E03-B10D-94F6-3BBC0D2DCFE4}"/>
              </a:ext>
            </a:extLst>
          </p:cNvPr>
          <p:cNvSpPr txBox="1"/>
          <p:nvPr/>
        </p:nvSpPr>
        <p:spPr>
          <a:xfrm>
            <a:off x="921224" y="1899117"/>
            <a:ext cx="1108880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dirty="0" err="1"/>
              <a:t>public</a:t>
            </a:r>
            <a:r>
              <a:rPr lang="fi-FI" dirty="0"/>
              <a:t> </a:t>
            </a:r>
            <a:r>
              <a:rPr lang="fi-FI" dirty="0" err="1"/>
              <a:t>static</a:t>
            </a:r>
            <a:r>
              <a:rPr lang="fi-FI" dirty="0"/>
              <a:t> </a:t>
            </a:r>
            <a:r>
              <a:rPr lang="fi-FI" dirty="0" err="1"/>
              <a:t>void</a:t>
            </a:r>
            <a:r>
              <a:rPr lang="fi-FI" dirty="0"/>
              <a:t> </a:t>
            </a:r>
            <a:r>
              <a:rPr lang="fi-FI" dirty="0" err="1"/>
              <a:t>measureExecSpeed</a:t>
            </a:r>
            <a:r>
              <a:rPr lang="fi-FI" dirty="0"/>
              <a:t>(</a:t>
            </a:r>
            <a:r>
              <a:rPr lang="fi-FI" dirty="0" err="1"/>
              <a:t>FunctionPointer</a:t>
            </a:r>
            <a:r>
              <a:rPr lang="fi-FI" dirty="0"/>
              <a:t> </a:t>
            </a:r>
            <a:r>
              <a:rPr lang="fi-FI" dirty="0" err="1"/>
              <a:t>method</a:t>
            </a:r>
            <a:r>
              <a:rPr lang="fi-FI" dirty="0"/>
              <a:t>, </a:t>
            </a:r>
            <a:r>
              <a:rPr lang="fi-FI" dirty="0" err="1"/>
              <a:t>String</a:t>
            </a:r>
            <a:r>
              <a:rPr lang="fi-FI" dirty="0"/>
              <a:t> </a:t>
            </a:r>
            <a:r>
              <a:rPr lang="fi-FI" dirty="0" err="1"/>
              <a:t>name</a:t>
            </a:r>
            <a:r>
              <a:rPr lang="fi-FI" dirty="0"/>
              <a:t>, </a:t>
            </a:r>
            <a:r>
              <a:rPr lang="fi-FI" dirty="0" err="1"/>
              <a:t>int</a:t>
            </a:r>
            <a:r>
              <a:rPr lang="fi-FI" dirty="0"/>
              <a:t> </a:t>
            </a:r>
            <a:r>
              <a:rPr lang="fi-FI" dirty="0" err="1"/>
              <a:t>size</a:t>
            </a:r>
            <a:r>
              <a:rPr lang="fi-FI" dirty="0"/>
              <a:t>, </a:t>
            </a:r>
            <a:r>
              <a:rPr lang="fi-FI" dirty="0" err="1"/>
              <a:t>int</a:t>
            </a:r>
            <a:r>
              <a:rPr lang="fi-FI" dirty="0"/>
              <a:t>[] </a:t>
            </a:r>
            <a:r>
              <a:rPr lang="fi-FI" dirty="0" err="1"/>
              <a:t>arr</a:t>
            </a:r>
            <a:r>
              <a:rPr lang="fi-FI" dirty="0"/>
              <a:t>) {</a:t>
            </a:r>
          </a:p>
          <a:p>
            <a:r>
              <a:rPr lang="fi-FI" dirty="0"/>
              <a:t>            long </a:t>
            </a:r>
            <a:r>
              <a:rPr lang="fi-FI" dirty="0" err="1"/>
              <a:t>start</a:t>
            </a:r>
            <a:r>
              <a:rPr lang="fi-FI" dirty="0"/>
              <a:t> = </a:t>
            </a:r>
            <a:r>
              <a:rPr lang="fi-FI" dirty="0" err="1"/>
              <a:t>System.nanoTime</a:t>
            </a:r>
            <a:r>
              <a:rPr lang="fi-FI" dirty="0"/>
              <a:t>();</a:t>
            </a:r>
          </a:p>
          <a:p>
            <a:r>
              <a:rPr lang="fi-FI" dirty="0"/>
              <a:t>            </a:t>
            </a:r>
            <a:r>
              <a:rPr lang="fi-FI" dirty="0" err="1"/>
              <a:t>method.methodSignature</a:t>
            </a:r>
            <a:r>
              <a:rPr lang="fi-FI" dirty="0"/>
              <a:t>(</a:t>
            </a:r>
            <a:r>
              <a:rPr lang="fi-FI" dirty="0" err="1"/>
              <a:t>arr</a:t>
            </a:r>
            <a:r>
              <a:rPr lang="fi-FI" dirty="0"/>
              <a:t>);</a:t>
            </a:r>
          </a:p>
          <a:p>
            <a:r>
              <a:rPr lang="fi-FI" dirty="0"/>
              <a:t>            long </a:t>
            </a:r>
            <a:r>
              <a:rPr lang="fi-FI" dirty="0" err="1"/>
              <a:t>taken</a:t>
            </a:r>
            <a:r>
              <a:rPr lang="fi-FI" dirty="0"/>
              <a:t> = </a:t>
            </a:r>
            <a:r>
              <a:rPr lang="fi-FI" dirty="0" err="1"/>
              <a:t>System.nanoTime</a:t>
            </a:r>
            <a:r>
              <a:rPr lang="fi-FI" dirty="0"/>
              <a:t>() - </a:t>
            </a:r>
            <a:r>
              <a:rPr lang="fi-FI" dirty="0" err="1"/>
              <a:t>start</a:t>
            </a:r>
            <a:r>
              <a:rPr lang="fi-FI" dirty="0"/>
              <a:t>;</a:t>
            </a:r>
          </a:p>
          <a:p>
            <a:r>
              <a:rPr lang="fi-FI" dirty="0"/>
              <a:t>            </a:t>
            </a:r>
            <a:r>
              <a:rPr lang="fi-FI" dirty="0" err="1"/>
              <a:t>System.out.println</a:t>
            </a:r>
            <a:r>
              <a:rPr lang="fi-FI" dirty="0"/>
              <a:t>(</a:t>
            </a:r>
            <a:r>
              <a:rPr lang="fi-FI" dirty="0" err="1"/>
              <a:t>name</a:t>
            </a:r>
            <a:r>
              <a:rPr lang="fi-FI" dirty="0"/>
              <a:t> + ": " + </a:t>
            </a:r>
            <a:r>
              <a:rPr lang="fi-FI" dirty="0" err="1"/>
              <a:t>String.format</a:t>
            </a:r>
            <a:r>
              <a:rPr lang="fi-FI" dirty="0"/>
              <a:t>("%.3f", </a:t>
            </a:r>
            <a:r>
              <a:rPr lang="fi-FI" dirty="0" err="1"/>
              <a:t>taken</a:t>
            </a:r>
            <a:r>
              <a:rPr lang="fi-FI" dirty="0"/>
              <a:t> / 1000000.0) + "ms");</a:t>
            </a:r>
          </a:p>
          <a:p>
            <a:r>
              <a:rPr lang="fi-FI" dirty="0"/>
              <a:t>}</a:t>
            </a:r>
          </a:p>
        </p:txBody>
      </p:sp>
      <p:sp>
        <p:nvSpPr>
          <p:cNvPr id="4" name="Tekstiruutu 3">
            <a:extLst>
              <a:ext uri="{FF2B5EF4-FFF2-40B4-BE49-F238E27FC236}">
                <a16:creationId xmlns:a16="http://schemas.microsoft.com/office/drawing/2014/main" id="{BF0ECEAB-ACAF-5669-5497-1F00A2CBF539}"/>
              </a:ext>
            </a:extLst>
          </p:cNvPr>
          <p:cNvSpPr txBox="1"/>
          <p:nvPr/>
        </p:nvSpPr>
        <p:spPr>
          <a:xfrm>
            <a:off x="921224" y="4319516"/>
            <a:ext cx="46001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public interface </a:t>
            </a:r>
            <a:r>
              <a:rPr lang="en-US" dirty="0" err="1"/>
              <a:t>FunctionPointer</a:t>
            </a:r>
            <a:r>
              <a:rPr lang="en-US" dirty="0"/>
              <a:t> {</a:t>
            </a:r>
          </a:p>
          <a:p>
            <a:r>
              <a:rPr lang="en-US" dirty="0"/>
              <a:t>            void </a:t>
            </a:r>
            <a:r>
              <a:rPr lang="en-US" dirty="0" err="1"/>
              <a:t>methodSignature</a:t>
            </a:r>
            <a:r>
              <a:rPr lang="en-US" dirty="0"/>
              <a:t>(int[] data);</a:t>
            </a:r>
          </a:p>
          <a:p>
            <a:r>
              <a:rPr lang="en-US" dirty="0"/>
              <a:t>        }</a:t>
            </a:r>
            <a:endParaRPr lang="fi-FI" dirty="0"/>
          </a:p>
        </p:txBody>
      </p:sp>
    </p:spTree>
    <p:extLst>
      <p:ext uri="{BB962C8B-B14F-4D97-AF65-F5344CB8AC3E}">
        <p14:creationId xmlns:p14="http://schemas.microsoft.com/office/powerpoint/2010/main" val="1694672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iruutu 1">
            <a:extLst>
              <a:ext uri="{FF2B5EF4-FFF2-40B4-BE49-F238E27FC236}">
                <a16:creationId xmlns:a16="http://schemas.microsoft.com/office/drawing/2014/main" id="{52964F3D-4CE3-0808-63AD-72161B88132F}"/>
              </a:ext>
            </a:extLst>
          </p:cNvPr>
          <p:cNvSpPr txBox="1"/>
          <p:nvPr/>
        </p:nvSpPr>
        <p:spPr>
          <a:xfrm>
            <a:off x="569743" y="513051"/>
            <a:ext cx="110525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sz="2400" dirty="0"/>
              <a:t>Optimoin </a:t>
            </a:r>
            <a:r>
              <a:rPr lang="fi-FI" sz="2400" dirty="0" err="1"/>
              <a:t>Quick</a:t>
            </a:r>
            <a:r>
              <a:rPr lang="fi-FI" sz="2400" dirty="0"/>
              <a:t> Sortin käyttämällä pivot-alkiona </a:t>
            </a:r>
            <a:r>
              <a:rPr lang="fi-FI" sz="2400" dirty="0" err="1"/>
              <a:t>random.nextInt</a:t>
            </a:r>
            <a:r>
              <a:rPr lang="fi-FI" sz="2400" dirty="0"/>
              <a:t>() väliltä </a:t>
            </a:r>
            <a:r>
              <a:rPr lang="fi-FI" sz="2400" dirty="0" err="1"/>
              <a:t>low</a:t>
            </a:r>
            <a:r>
              <a:rPr lang="fi-FI" sz="2400" dirty="0"/>
              <a:t> ja </a:t>
            </a:r>
            <a:r>
              <a:rPr lang="fi-FI" sz="2400" dirty="0" err="1"/>
              <a:t>high</a:t>
            </a:r>
            <a:endParaRPr lang="fi-FI" sz="2400" dirty="0"/>
          </a:p>
        </p:txBody>
      </p:sp>
      <p:sp>
        <p:nvSpPr>
          <p:cNvPr id="3" name="Tekstiruutu 2">
            <a:extLst>
              <a:ext uri="{FF2B5EF4-FFF2-40B4-BE49-F238E27FC236}">
                <a16:creationId xmlns:a16="http://schemas.microsoft.com/office/drawing/2014/main" id="{EFC386E7-9FA4-2E6B-8EF8-07E204F26AE2}"/>
              </a:ext>
            </a:extLst>
          </p:cNvPr>
          <p:cNvSpPr txBox="1"/>
          <p:nvPr/>
        </p:nvSpPr>
        <p:spPr>
          <a:xfrm>
            <a:off x="1709926" y="1315329"/>
            <a:ext cx="877214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sz="1400" dirty="0" err="1"/>
              <a:t>private</a:t>
            </a:r>
            <a:r>
              <a:rPr lang="fi-FI" sz="1400" dirty="0"/>
              <a:t> </a:t>
            </a:r>
            <a:r>
              <a:rPr lang="fi-FI" sz="1400" dirty="0" err="1"/>
              <a:t>static</a:t>
            </a:r>
            <a:r>
              <a:rPr lang="fi-FI" sz="1400" dirty="0"/>
              <a:t> </a:t>
            </a:r>
            <a:r>
              <a:rPr lang="fi-FI" sz="1400" dirty="0" err="1"/>
              <a:t>final</a:t>
            </a:r>
            <a:r>
              <a:rPr lang="fi-FI" sz="1400" dirty="0"/>
              <a:t> Random </a:t>
            </a:r>
            <a:r>
              <a:rPr lang="fi-FI" sz="1400" dirty="0" err="1"/>
              <a:t>gen</a:t>
            </a:r>
            <a:r>
              <a:rPr lang="fi-FI" sz="1400" dirty="0"/>
              <a:t> = </a:t>
            </a:r>
            <a:r>
              <a:rPr lang="fi-FI" sz="1400" dirty="0" err="1"/>
              <a:t>new</a:t>
            </a:r>
            <a:r>
              <a:rPr lang="fi-FI" sz="1400" dirty="0"/>
              <a:t> Random();</a:t>
            </a:r>
          </a:p>
          <a:p>
            <a:r>
              <a:rPr lang="fi-FI" sz="1400" dirty="0"/>
              <a:t>        </a:t>
            </a:r>
          </a:p>
          <a:p>
            <a:r>
              <a:rPr lang="fi-FI" sz="1400" dirty="0"/>
              <a:t>        </a:t>
            </a:r>
            <a:r>
              <a:rPr lang="fi-FI" sz="1400" dirty="0" err="1"/>
              <a:t>public</a:t>
            </a:r>
            <a:r>
              <a:rPr lang="fi-FI" sz="1400" dirty="0"/>
              <a:t> </a:t>
            </a:r>
            <a:r>
              <a:rPr lang="fi-FI" sz="1400" dirty="0" err="1"/>
              <a:t>static</a:t>
            </a:r>
            <a:r>
              <a:rPr lang="fi-FI" sz="1400" dirty="0"/>
              <a:t> </a:t>
            </a:r>
            <a:r>
              <a:rPr lang="fi-FI" sz="1400" dirty="0" err="1"/>
              <a:t>void</a:t>
            </a:r>
            <a:r>
              <a:rPr lang="fi-FI" sz="1400" dirty="0"/>
              <a:t> </a:t>
            </a:r>
            <a:r>
              <a:rPr lang="fi-FI" sz="1400" dirty="0" err="1"/>
              <a:t>optimizedQuickSort</a:t>
            </a:r>
            <a:r>
              <a:rPr lang="fi-FI" sz="1400" dirty="0"/>
              <a:t>(</a:t>
            </a:r>
            <a:r>
              <a:rPr lang="fi-FI" sz="1400" dirty="0" err="1"/>
              <a:t>int</a:t>
            </a:r>
            <a:r>
              <a:rPr lang="fi-FI" sz="1400" dirty="0"/>
              <a:t>[] data, </a:t>
            </a:r>
            <a:r>
              <a:rPr lang="fi-FI" sz="1400" dirty="0" err="1"/>
              <a:t>int</a:t>
            </a:r>
            <a:r>
              <a:rPr lang="fi-FI" sz="1400" dirty="0"/>
              <a:t> </a:t>
            </a:r>
            <a:r>
              <a:rPr lang="fi-FI" sz="1400" dirty="0" err="1"/>
              <a:t>low</a:t>
            </a:r>
            <a:r>
              <a:rPr lang="fi-FI" sz="1400" dirty="0"/>
              <a:t>, </a:t>
            </a:r>
            <a:r>
              <a:rPr lang="fi-FI" sz="1400" dirty="0" err="1"/>
              <a:t>int</a:t>
            </a:r>
            <a:r>
              <a:rPr lang="fi-FI" sz="1400" dirty="0"/>
              <a:t> </a:t>
            </a:r>
            <a:r>
              <a:rPr lang="fi-FI" sz="1400" dirty="0" err="1"/>
              <a:t>high</a:t>
            </a:r>
            <a:r>
              <a:rPr lang="fi-FI" sz="1400" dirty="0"/>
              <a:t>) {</a:t>
            </a:r>
          </a:p>
          <a:p>
            <a:r>
              <a:rPr lang="fi-FI" sz="1400" dirty="0"/>
              <a:t>            </a:t>
            </a:r>
            <a:r>
              <a:rPr lang="fi-FI" sz="1400" dirty="0" err="1"/>
              <a:t>if</a:t>
            </a:r>
            <a:r>
              <a:rPr lang="fi-FI" sz="1400" dirty="0"/>
              <a:t> (</a:t>
            </a:r>
            <a:r>
              <a:rPr lang="fi-FI" sz="1400" dirty="0" err="1"/>
              <a:t>low</a:t>
            </a:r>
            <a:r>
              <a:rPr lang="fi-FI" sz="1400" dirty="0"/>
              <a:t> &gt;= </a:t>
            </a:r>
            <a:r>
              <a:rPr lang="fi-FI" sz="1400" dirty="0" err="1"/>
              <a:t>high</a:t>
            </a:r>
            <a:r>
              <a:rPr lang="fi-FI" sz="1400" dirty="0"/>
              <a:t>) </a:t>
            </a:r>
            <a:r>
              <a:rPr lang="fi-FI" sz="1400" dirty="0" err="1"/>
              <a:t>return</a:t>
            </a:r>
            <a:r>
              <a:rPr lang="fi-FI" sz="1400" dirty="0"/>
              <a:t>;</a:t>
            </a:r>
          </a:p>
          <a:p>
            <a:r>
              <a:rPr lang="fi-FI" sz="1400" dirty="0"/>
              <a:t>            </a:t>
            </a:r>
            <a:r>
              <a:rPr lang="fi-FI" sz="1400" dirty="0" err="1"/>
              <a:t>int</a:t>
            </a:r>
            <a:r>
              <a:rPr lang="fi-FI" sz="1400" dirty="0"/>
              <a:t> </a:t>
            </a:r>
            <a:r>
              <a:rPr lang="fi-FI" sz="1400" dirty="0" err="1"/>
              <a:t>pivotIndex</a:t>
            </a:r>
            <a:r>
              <a:rPr lang="fi-FI" sz="1400" dirty="0"/>
              <a:t> = </a:t>
            </a:r>
            <a:r>
              <a:rPr lang="fi-FI" sz="1400" dirty="0" err="1"/>
              <a:t>gen.nextInt</a:t>
            </a:r>
            <a:r>
              <a:rPr lang="fi-FI" sz="1400" dirty="0"/>
              <a:t>(</a:t>
            </a:r>
            <a:r>
              <a:rPr lang="fi-FI" sz="1400" dirty="0" err="1"/>
              <a:t>low</a:t>
            </a:r>
            <a:r>
              <a:rPr lang="fi-FI" sz="1400" dirty="0"/>
              <a:t>, </a:t>
            </a:r>
            <a:r>
              <a:rPr lang="fi-FI" sz="1400" dirty="0" err="1"/>
              <a:t>high</a:t>
            </a:r>
            <a:r>
              <a:rPr lang="fi-FI" sz="1400" dirty="0"/>
              <a:t> + 1); // vältetään huonoin O(n^2) tapaus jos lista laskeva tai nouseva</a:t>
            </a:r>
          </a:p>
          <a:p>
            <a:r>
              <a:rPr lang="fi-FI" sz="1400" dirty="0"/>
              <a:t>            </a:t>
            </a:r>
            <a:r>
              <a:rPr lang="fi-FI" sz="1400" dirty="0" err="1"/>
              <a:t>int</a:t>
            </a:r>
            <a:r>
              <a:rPr lang="fi-FI" sz="1400" dirty="0"/>
              <a:t> pivot = data[</a:t>
            </a:r>
            <a:r>
              <a:rPr lang="fi-FI" sz="1400" dirty="0" err="1"/>
              <a:t>pivotIndex</a:t>
            </a:r>
            <a:r>
              <a:rPr lang="fi-FI" sz="1400" dirty="0"/>
              <a:t>]; // optimoidaan valitsemalla random </a:t>
            </a:r>
            <a:r>
              <a:rPr lang="fi-FI" sz="1400" dirty="0" err="1"/>
              <a:t>int</a:t>
            </a:r>
            <a:r>
              <a:rPr lang="fi-FI" sz="1400" dirty="0"/>
              <a:t> </a:t>
            </a:r>
            <a:r>
              <a:rPr lang="fi-FI" sz="1400" dirty="0" err="1"/>
              <a:t>pivotiksi</a:t>
            </a:r>
            <a:endParaRPr lang="fi-FI" sz="1400" dirty="0"/>
          </a:p>
          <a:p>
            <a:r>
              <a:rPr lang="fi-FI" sz="1400" dirty="0"/>
              <a:t>            </a:t>
            </a:r>
            <a:r>
              <a:rPr lang="fi-FI" sz="1400" dirty="0" err="1"/>
              <a:t>int</a:t>
            </a:r>
            <a:r>
              <a:rPr lang="fi-FI" sz="1400" dirty="0"/>
              <a:t> </a:t>
            </a:r>
            <a:r>
              <a:rPr lang="fi-FI" sz="1400" dirty="0" err="1"/>
              <a:t>pTemp</a:t>
            </a:r>
            <a:r>
              <a:rPr lang="fi-FI" sz="1400" dirty="0"/>
              <a:t> = data[</a:t>
            </a:r>
            <a:r>
              <a:rPr lang="fi-FI" sz="1400" dirty="0" err="1"/>
              <a:t>pivotIndex</a:t>
            </a:r>
            <a:r>
              <a:rPr lang="fi-FI" sz="1400" dirty="0"/>
              <a:t>];</a:t>
            </a:r>
          </a:p>
          <a:p>
            <a:r>
              <a:rPr lang="fi-FI" sz="1400" dirty="0"/>
              <a:t>            data[</a:t>
            </a:r>
            <a:r>
              <a:rPr lang="fi-FI" sz="1400" dirty="0" err="1"/>
              <a:t>pivotIndex</a:t>
            </a:r>
            <a:r>
              <a:rPr lang="fi-FI" sz="1400" dirty="0"/>
              <a:t>] = data[</a:t>
            </a:r>
            <a:r>
              <a:rPr lang="fi-FI" sz="1400" dirty="0" err="1"/>
              <a:t>high</a:t>
            </a:r>
            <a:r>
              <a:rPr lang="fi-FI" sz="1400" dirty="0"/>
              <a:t>];</a:t>
            </a:r>
          </a:p>
          <a:p>
            <a:r>
              <a:rPr lang="fi-FI" sz="1400" dirty="0"/>
              <a:t>            data[</a:t>
            </a:r>
            <a:r>
              <a:rPr lang="fi-FI" sz="1400" dirty="0" err="1"/>
              <a:t>high</a:t>
            </a:r>
            <a:r>
              <a:rPr lang="fi-FI" sz="1400" dirty="0"/>
              <a:t>] = </a:t>
            </a:r>
            <a:r>
              <a:rPr lang="fi-FI" sz="1400" dirty="0" err="1"/>
              <a:t>pTemp</a:t>
            </a:r>
            <a:r>
              <a:rPr lang="fi-FI" sz="1400" dirty="0"/>
              <a:t>;</a:t>
            </a:r>
          </a:p>
          <a:p>
            <a:r>
              <a:rPr lang="fi-FI" sz="1400" dirty="0"/>
              <a:t>            </a:t>
            </a:r>
            <a:r>
              <a:rPr lang="fi-FI" sz="1400" dirty="0" err="1"/>
              <a:t>int</a:t>
            </a:r>
            <a:r>
              <a:rPr lang="fi-FI" sz="1400" dirty="0"/>
              <a:t> </a:t>
            </a:r>
            <a:r>
              <a:rPr lang="fi-FI" sz="1400" dirty="0" err="1"/>
              <a:t>index</a:t>
            </a:r>
            <a:r>
              <a:rPr lang="fi-FI" sz="1400" dirty="0"/>
              <a:t> = </a:t>
            </a:r>
            <a:r>
              <a:rPr lang="fi-FI" sz="1400" dirty="0" err="1"/>
              <a:t>low</a:t>
            </a:r>
            <a:r>
              <a:rPr lang="fi-FI" sz="1400" dirty="0"/>
              <a:t>;</a:t>
            </a:r>
          </a:p>
          <a:p>
            <a:r>
              <a:rPr lang="fi-FI" sz="1400" dirty="0"/>
              <a:t>            for (</a:t>
            </a:r>
            <a:r>
              <a:rPr lang="fi-FI" sz="1400" dirty="0" err="1"/>
              <a:t>int</a:t>
            </a:r>
            <a:r>
              <a:rPr lang="fi-FI" sz="1400" dirty="0"/>
              <a:t> i = </a:t>
            </a:r>
            <a:r>
              <a:rPr lang="fi-FI" sz="1400" dirty="0" err="1"/>
              <a:t>low</a:t>
            </a:r>
            <a:r>
              <a:rPr lang="fi-FI" sz="1400" dirty="0"/>
              <a:t>; i &lt; </a:t>
            </a:r>
            <a:r>
              <a:rPr lang="fi-FI" sz="1400" dirty="0" err="1"/>
              <a:t>high</a:t>
            </a:r>
            <a:r>
              <a:rPr lang="fi-FI" sz="1400" dirty="0"/>
              <a:t>; ++i) {</a:t>
            </a:r>
          </a:p>
          <a:p>
            <a:r>
              <a:rPr lang="fi-FI" sz="1400" dirty="0"/>
              <a:t>                </a:t>
            </a:r>
            <a:r>
              <a:rPr lang="fi-FI" sz="1400" dirty="0" err="1"/>
              <a:t>if</a:t>
            </a:r>
            <a:r>
              <a:rPr lang="fi-FI" sz="1400" dirty="0"/>
              <a:t> (data[i] &lt; pivot) {</a:t>
            </a:r>
          </a:p>
          <a:p>
            <a:r>
              <a:rPr lang="fi-FI" sz="1400" dirty="0"/>
              <a:t>                    </a:t>
            </a:r>
            <a:r>
              <a:rPr lang="fi-FI" sz="1400" dirty="0" err="1"/>
              <a:t>int</a:t>
            </a:r>
            <a:r>
              <a:rPr lang="fi-FI" sz="1400" dirty="0"/>
              <a:t> </a:t>
            </a:r>
            <a:r>
              <a:rPr lang="fi-FI" sz="1400" dirty="0" err="1"/>
              <a:t>temp</a:t>
            </a:r>
            <a:r>
              <a:rPr lang="fi-FI" sz="1400" dirty="0"/>
              <a:t> = data[</a:t>
            </a:r>
            <a:r>
              <a:rPr lang="fi-FI" sz="1400" dirty="0" err="1"/>
              <a:t>index</a:t>
            </a:r>
            <a:r>
              <a:rPr lang="fi-FI" sz="1400" dirty="0"/>
              <a:t>];</a:t>
            </a:r>
          </a:p>
          <a:p>
            <a:r>
              <a:rPr lang="fi-FI" sz="1400" dirty="0"/>
              <a:t>                    data[</a:t>
            </a:r>
            <a:r>
              <a:rPr lang="fi-FI" sz="1400" dirty="0" err="1"/>
              <a:t>index</a:t>
            </a:r>
            <a:r>
              <a:rPr lang="fi-FI" sz="1400" dirty="0"/>
              <a:t>] = data[i];</a:t>
            </a:r>
          </a:p>
          <a:p>
            <a:r>
              <a:rPr lang="fi-FI" sz="1400" dirty="0"/>
              <a:t>                    data[i] = </a:t>
            </a:r>
            <a:r>
              <a:rPr lang="fi-FI" sz="1400" dirty="0" err="1"/>
              <a:t>temp</a:t>
            </a:r>
            <a:r>
              <a:rPr lang="fi-FI" sz="1400" dirty="0"/>
              <a:t>;</a:t>
            </a:r>
          </a:p>
          <a:p>
            <a:r>
              <a:rPr lang="fi-FI" sz="1400" dirty="0"/>
              <a:t>                    ++</a:t>
            </a:r>
            <a:r>
              <a:rPr lang="fi-FI" sz="1400" dirty="0" err="1"/>
              <a:t>index</a:t>
            </a:r>
            <a:r>
              <a:rPr lang="fi-FI" sz="1400" dirty="0"/>
              <a:t>;</a:t>
            </a:r>
          </a:p>
          <a:p>
            <a:r>
              <a:rPr lang="fi-FI" sz="1400" dirty="0"/>
              <a:t>                }</a:t>
            </a:r>
          </a:p>
          <a:p>
            <a:r>
              <a:rPr lang="fi-FI" sz="1400" dirty="0"/>
              <a:t>            }</a:t>
            </a:r>
          </a:p>
          <a:p>
            <a:r>
              <a:rPr lang="fi-FI" sz="1400" dirty="0"/>
              <a:t>            </a:t>
            </a:r>
            <a:r>
              <a:rPr lang="fi-FI" sz="1400" dirty="0" err="1"/>
              <a:t>int</a:t>
            </a:r>
            <a:r>
              <a:rPr lang="fi-FI" sz="1400" dirty="0"/>
              <a:t> </a:t>
            </a:r>
            <a:r>
              <a:rPr lang="fi-FI" sz="1400" dirty="0" err="1"/>
              <a:t>temp</a:t>
            </a:r>
            <a:r>
              <a:rPr lang="fi-FI" sz="1400" dirty="0"/>
              <a:t> = data[</a:t>
            </a:r>
            <a:r>
              <a:rPr lang="fi-FI" sz="1400" dirty="0" err="1"/>
              <a:t>index</a:t>
            </a:r>
            <a:r>
              <a:rPr lang="fi-FI" sz="1400" dirty="0"/>
              <a:t>];</a:t>
            </a:r>
          </a:p>
          <a:p>
            <a:r>
              <a:rPr lang="fi-FI" sz="1400" dirty="0"/>
              <a:t>            data[</a:t>
            </a:r>
            <a:r>
              <a:rPr lang="fi-FI" sz="1400" dirty="0" err="1"/>
              <a:t>index</a:t>
            </a:r>
            <a:r>
              <a:rPr lang="fi-FI" sz="1400" dirty="0"/>
              <a:t>] = data[</a:t>
            </a:r>
            <a:r>
              <a:rPr lang="fi-FI" sz="1400" dirty="0" err="1"/>
              <a:t>high</a:t>
            </a:r>
            <a:r>
              <a:rPr lang="fi-FI" sz="1400" dirty="0"/>
              <a:t>];</a:t>
            </a:r>
          </a:p>
          <a:p>
            <a:r>
              <a:rPr lang="fi-FI" sz="1400" dirty="0"/>
              <a:t>            data[</a:t>
            </a:r>
            <a:r>
              <a:rPr lang="fi-FI" sz="1400" dirty="0" err="1"/>
              <a:t>high</a:t>
            </a:r>
            <a:r>
              <a:rPr lang="fi-FI" sz="1400" dirty="0"/>
              <a:t>] = </a:t>
            </a:r>
            <a:r>
              <a:rPr lang="fi-FI" sz="1400" dirty="0" err="1"/>
              <a:t>temp</a:t>
            </a:r>
            <a:r>
              <a:rPr lang="fi-FI" sz="1400" dirty="0"/>
              <a:t>;</a:t>
            </a:r>
          </a:p>
          <a:p>
            <a:r>
              <a:rPr lang="fi-FI" sz="1400" dirty="0"/>
              <a:t>            </a:t>
            </a:r>
            <a:r>
              <a:rPr lang="fi-FI" sz="1400" dirty="0" err="1"/>
              <a:t>optimizedQuickSort</a:t>
            </a:r>
            <a:r>
              <a:rPr lang="fi-FI" sz="1400" dirty="0"/>
              <a:t>(data, </a:t>
            </a:r>
            <a:r>
              <a:rPr lang="fi-FI" sz="1400" dirty="0" err="1"/>
              <a:t>low</a:t>
            </a:r>
            <a:r>
              <a:rPr lang="fi-FI" sz="1400" dirty="0"/>
              <a:t>, </a:t>
            </a:r>
            <a:r>
              <a:rPr lang="fi-FI" sz="1400" dirty="0" err="1"/>
              <a:t>index</a:t>
            </a:r>
            <a:r>
              <a:rPr lang="fi-FI" sz="1400" dirty="0"/>
              <a:t> - 1);</a:t>
            </a:r>
          </a:p>
          <a:p>
            <a:r>
              <a:rPr lang="fi-FI" sz="1400" dirty="0"/>
              <a:t>            </a:t>
            </a:r>
            <a:r>
              <a:rPr lang="fi-FI" sz="1400" dirty="0" err="1"/>
              <a:t>optimizedQuickSort</a:t>
            </a:r>
            <a:r>
              <a:rPr lang="fi-FI" sz="1400" dirty="0"/>
              <a:t>(data, </a:t>
            </a:r>
            <a:r>
              <a:rPr lang="fi-FI" sz="1400" dirty="0" err="1"/>
              <a:t>index</a:t>
            </a:r>
            <a:r>
              <a:rPr lang="fi-FI" sz="1400" dirty="0"/>
              <a:t> + 1, </a:t>
            </a:r>
            <a:r>
              <a:rPr lang="fi-FI" sz="1400" dirty="0" err="1"/>
              <a:t>high</a:t>
            </a:r>
            <a:r>
              <a:rPr lang="fi-FI" sz="1400" dirty="0"/>
              <a:t>);</a:t>
            </a:r>
          </a:p>
          <a:p>
            <a:r>
              <a:rPr lang="fi-FI" sz="1400" dirty="0"/>
              <a:t>        }</a:t>
            </a:r>
          </a:p>
        </p:txBody>
      </p:sp>
    </p:spTree>
    <p:extLst>
      <p:ext uri="{BB962C8B-B14F-4D97-AF65-F5344CB8AC3E}">
        <p14:creationId xmlns:p14="http://schemas.microsoft.com/office/powerpoint/2010/main" val="23653888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iruutu 1">
            <a:extLst>
              <a:ext uri="{FF2B5EF4-FFF2-40B4-BE49-F238E27FC236}">
                <a16:creationId xmlns:a16="http://schemas.microsoft.com/office/drawing/2014/main" id="{687B6FA4-5512-90B3-DB23-3A05DF945819}"/>
              </a:ext>
            </a:extLst>
          </p:cNvPr>
          <p:cNvSpPr txBox="1"/>
          <p:nvPr/>
        </p:nvSpPr>
        <p:spPr>
          <a:xfrm>
            <a:off x="3316489" y="436098"/>
            <a:ext cx="55590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i-FI" sz="2800" dirty="0" err="1"/>
              <a:t>Quick</a:t>
            </a:r>
            <a:r>
              <a:rPr lang="fi-FI" sz="2800" dirty="0"/>
              <a:t> </a:t>
            </a:r>
            <a:r>
              <a:rPr lang="fi-FI" sz="2800" dirty="0" err="1"/>
              <a:t>Sort</a:t>
            </a:r>
            <a:r>
              <a:rPr lang="fi-FI" sz="2800" dirty="0"/>
              <a:t> </a:t>
            </a:r>
            <a:r>
              <a:rPr lang="fi-FI" sz="2800" dirty="0" err="1"/>
              <a:t>vs</a:t>
            </a:r>
            <a:r>
              <a:rPr lang="fi-FI" sz="2800" dirty="0"/>
              <a:t> Optimoitu </a:t>
            </a:r>
            <a:r>
              <a:rPr lang="fi-FI" sz="2800" dirty="0" err="1"/>
              <a:t>Quick</a:t>
            </a:r>
            <a:r>
              <a:rPr lang="fi-FI" sz="2800" dirty="0"/>
              <a:t> </a:t>
            </a:r>
            <a:r>
              <a:rPr lang="fi-FI" sz="2800" dirty="0" err="1"/>
              <a:t>Sort</a:t>
            </a:r>
            <a:endParaRPr lang="fi-FI" sz="2800" dirty="0"/>
          </a:p>
        </p:txBody>
      </p:sp>
      <p:sp>
        <p:nvSpPr>
          <p:cNvPr id="3" name="Tekstiruutu 2">
            <a:extLst>
              <a:ext uri="{FF2B5EF4-FFF2-40B4-BE49-F238E27FC236}">
                <a16:creationId xmlns:a16="http://schemas.microsoft.com/office/drawing/2014/main" id="{B6852150-97D0-72C2-281B-8824704D23A2}"/>
              </a:ext>
            </a:extLst>
          </p:cNvPr>
          <p:cNvSpPr txBox="1"/>
          <p:nvPr/>
        </p:nvSpPr>
        <p:spPr>
          <a:xfrm>
            <a:off x="4166425" y="1235122"/>
            <a:ext cx="38591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dirty="0"/>
              <a:t>Random: </a:t>
            </a:r>
          </a:p>
          <a:p>
            <a:r>
              <a:rPr lang="fi-FI" b="1" dirty="0" err="1"/>
              <a:t>Quick</a:t>
            </a:r>
            <a:r>
              <a:rPr lang="fi-FI" b="1" dirty="0"/>
              <a:t> </a:t>
            </a:r>
            <a:r>
              <a:rPr lang="fi-FI" b="1" dirty="0" err="1"/>
              <a:t>Sort</a:t>
            </a:r>
            <a:r>
              <a:rPr lang="fi-FI" b="1" dirty="0"/>
              <a:t>: 27,550ms</a:t>
            </a:r>
          </a:p>
          <a:p>
            <a:r>
              <a:rPr lang="fi-FI" dirty="0" err="1"/>
              <a:t>Optimized</a:t>
            </a:r>
            <a:r>
              <a:rPr lang="fi-FI" dirty="0"/>
              <a:t> </a:t>
            </a:r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32,031ms</a:t>
            </a:r>
          </a:p>
          <a:p>
            <a:endParaRPr lang="fi-FI" dirty="0"/>
          </a:p>
        </p:txBody>
      </p:sp>
      <p:sp>
        <p:nvSpPr>
          <p:cNvPr id="5" name="Tekstiruutu 4">
            <a:extLst>
              <a:ext uri="{FF2B5EF4-FFF2-40B4-BE49-F238E27FC236}">
                <a16:creationId xmlns:a16="http://schemas.microsoft.com/office/drawing/2014/main" id="{3D0FC739-F227-0CE0-D475-EDB33CF7A652}"/>
              </a:ext>
            </a:extLst>
          </p:cNvPr>
          <p:cNvSpPr txBox="1"/>
          <p:nvPr/>
        </p:nvSpPr>
        <p:spPr>
          <a:xfrm>
            <a:off x="4116233" y="2435451"/>
            <a:ext cx="38591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dirty="0"/>
              <a:t>Nouseva: 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44287,423ms</a:t>
            </a:r>
          </a:p>
          <a:p>
            <a:r>
              <a:rPr lang="fi-FI" b="1" dirty="0" err="1"/>
              <a:t>Optimized</a:t>
            </a:r>
            <a:r>
              <a:rPr lang="fi-FI" b="1" dirty="0"/>
              <a:t> </a:t>
            </a:r>
            <a:r>
              <a:rPr lang="fi-FI" b="1" dirty="0" err="1"/>
              <a:t>Quick</a:t>
            </a:r>
            <a:r>
              <a:rPr lang="fi-FI" b="1" dirty="0"/>
              <a:t> </a:t>
            </a:r>
            <a:r>
              <a:rPr lang="fi-FI" b="1" dirty="0" err="1"/>
              <a:t>Sort</a:t>
            </a:r>
            <a:r>
              <a:rPr lang="fi-FI" b="1" dirty="0"/>
              <a:t>: 9,336ms</a:t>
            </a:r>
          </a:p>
        </p:txBody>
      </p:sp>
      <p:sp>
        <p:nvSpPr>
          <p:cNvPr id="6" name="Tekstiruutu 5">
            <a:extLst>
              <a:ext uri="{FF2B5EF4-FFF2-40B4-BE49-F238E27FC236}">
                <a16:creationId xmlns:a16="http://schemas.microsoft.com/office/drawing/2014/main" id="{115CCFCD-5623-6B9B-7FB9-4DA7335EACB2}"/>
              </a:ext>
            </a:extLst>
          </p:cNvPr>
          <p:cNvSpPr txBox="1"/>
          <p:nvPr/>
        </p:nvSpPr>
        <p:spPr>
          <a:xfrm flipH="1">
            <a:off x="4116232" y="3911584"/>
            <a:ext cx="36772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dirty="0"/>
              <a:t>Laskeva: </a:t>
            </a:r>
          </a:p>
          <a:p>
            <a:r>
              <a:rPr lang="fi-FI" dirty="0" err="1"/>
              <a:t>Quick</a:t>
            </a:r>
            <a:r>
              <a:rPr lang="fi-FI" dirty="0"/>
              <a:t> </a:t>
            </a:r>
            <a:r>
              <a:rPr lang="fi-FI" dirty="0" err="1"/>
              <a:t>Sort</a:t>
            </a:r>
            <a:r>
              <a:rPr lang="fi-FI" dirty="0"/>
              <a:t>: 19471,239ms</a:t>
            </a:r>
          </a:p>
          <a:p>
            <a:r>
              <a:rPr lang="fi-FI" b="1" dirty="0" err="1"/>
              <a:t>Optimized</a:t>
            </a:r>
            <a:r>
              <a:rPr lang="fi-FI" b="1" dirty="0"/>
              <a:t> </a:t>
            </a:r>
            <a:r>
              <a:rPr lang="fi-FI" b="1" dirty="0" err="1"/>
              <a:t>Quick</a:t>
            </a:r>
            <a:r>
              <a:rPr lang="fi-FI" b="1" dirty="0"/>
              <a:t> </a:t>
            </a:r>
            <a:r>
              <a:rPr lang="fi-FI" b="1" dirty="0" err="1"/>
              <a:t>Sort</a:t>
            </a:r>
            <a:r>
              <a:rPr lang="fi-FI" b="1" dirty="0"/>
              <a:t>: 9,673ms</a:t>
            </a:r>
          </a:p>
        </p:txBody>
      </p:sp>
    </p:spTree>
    <p:extLst>
      <p:ext uri="{BB962C8B-B14F-4D97-AF65-F5344CB8AC3E}">
        <p14:creationId xmlns:p14="http://schemas.microsoft.com/office/powerpoint/2010/main" val="2984234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iruutu 1">
            <a:extLst>
              <a:ext uri="{FF2B5EF4-FFF2-40B4-BE49-F238E27FC236}">
                <a16:creationId xmlns:a16="http://schemas.microsoft.com/office/drawing/2014/main" id="{272C8927-5E3C-EC87-7CB8-7B90769F20CB}"/>
              </a:ext>
            </a:extLst>
          </p:cNvPr>
          <p:cNvSpPr txBox="1"/>
          <p:nvPr/>
        </p:nvSpPr>
        <p:spPr>
          <a:xfrm>
            <a:off x="3801793" y="189915"/>
            <a:ext cx="45884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2800" dirty="0"/>
              <a:t>Suoritusajat verrattuna O(n)</a:t>
            </a:r>
          </a:p>
        </p:txBody>
      </p:sp>
    </p:spTree>
    <p:extLst>
      <p:ext uri="{BB962C8B-B14F-4D97-AF65-F5344CB8AC3E}">
        <p14:creationId xmlns:p14="http://schemas.microsoft.com/office/powerpoint/2010/main" val="958200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575</Words>
  <Application>Microsoft Office PowerPoint</Application>
  <PresentationFormat>Laajakuva</PresentationFormat>
  <Paragraphs>96</Paragraphs>
  <Slides>6</Slides>
  <Notes>0</Notes>
  <HiddenSlides>0</HiddenSlides>
  <MMClips>0</MMClips>
  <ScaleCrop>false</ScaleCrop>
  <HeadingPairs>
    <vt:vector size="6" baseType="variant">
      <vt:variant>
        <vt:lpstr>Käytetyt fontit</vt:lpstr>
      </vt:variant>
      <vt:variant>
        <vt:i4>3</vt:i4>
      </vt:variant>
      <vt:variant>
        <vt:lpstr>Teema</vt:lpstr>
      </vt:variant>
      <vt:variant>
        <vt:i4>1</vt:i4>
      </vt:variant>
      <vt:variant>
        <vt:lpstr>Dian otsikot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Office-teema</vt:lpstr>
      <vt:lpstr>PowerPoint-esitys</vt:lpstr>
      <vt:lpstr>PowerPoint-esitys</vt:lpstr>
      <vt:lpstr>PowerPoint-esitys</vt:lpstr>
      <vt:lpstr>PowerPoint-esitys</vt:lpstr>
      <vt:lpstr>PowerPoint-esitys</vt:lpstr>
      <vt:lpstr>PowerPoint-esitys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Keskinen, Niilo</dc:creator>
  <cp:lastModifiedBy>Keskinen, Niilo</cp:lastModifiedBy>
  <cp:revision>4</cp:revision>
  <dcterms:created xsi:type="dcterms:W3CDTF">2026-01-20T09:24:04Z</dcterms:created>
  <dcterms:modified xsi:type="dcterms:W3CDTF">2026-01-20T09:37:46Z</dcterms:modified>
</cp:coreProperties>
</file>