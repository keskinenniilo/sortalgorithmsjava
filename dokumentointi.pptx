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2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50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9803076B-A58D-7FB8-AB83-B4517BFBFD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400E546F-D0D3-3443-DC1F-C31C865D6C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/>
              <a:t>Muokkaa alaotsikon perustyyliä napsautt.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66FAE4C9-DC9E-A5EC-0D1A-C1C08FC2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99CC-D3B6-422F-89CD-7DB5A310BDEB}" type="datetimeFigureOut">
              <a:rPr lang="fi-FI" smtClean="0"/>
              <a:t>20.1.2026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09D2EA34-D8D7-8B32-2136-2773E798C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3C9ECAA4-CFB7-CE7E-ACAB-D676B1F17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DAE20-4EDA-4EA7-B61C-B417680CE03B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570062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48F9E4DB-89D2-6977-D911-C6E68A7B2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E76E1F27-D2F1-E7F0-BF99-CAB109BDB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8CFB8784-680C-F492-0076-16183E5A7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99CC-D3B6-422F-89CD-7DB5A310BDEB}" type="datetimeFigureOut">
              <a:rPr lang="fi-FI" smtClean="0"/>
              <a:t>20.1.2026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C41238D5-6B2C-AB94-D05D-4301BA4E8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48CCA441-DAF3-6917-66E5-B402A6189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DAE20-4EDA-4EA7-B61C-B417680CE03B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987224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E3462768-BC57-AF97-1CF4-96842282F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4624CF31-0AC3-B5F0-8411-CFAC8AD9A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4EC55FA0-6543-7BD2-E433-BE4562C4F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99CC-D3B6-422F-89CD-7DB5A310BDEB}" type="datetimeFigureOut">
              <a:rPr lang="fi-FI" smtClean="0"/>
              <a:t>20.1.2026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C7BC4004-8946-DAD8-F3F5-F5A083E0E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914F8CBA-0B74-C3F2-F313-F28D7E8FA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DAE20-4EDA-4EA7-B61C-B417680CE03B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243232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31CD1B7B-AFD6-ED81-B832-9A0EBB71D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A308C467-54A7-F1B5-053E-5D30A102A2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FF59A83F-EACC-1D39-9601-DFF8845065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C4ADE8E0-0A13-7EBB-A45F-7619995E5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99CC-D3B6-422F-89CD-7DB5A310BDEB}" type="datetimeFigureOut">
              <a:rPr lang="fi-FI" smtClean="0"/>
              <a:t>20.1.2026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036439D5-C62C-306E-844C-B3A4DA849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F098095B-FC49-BE8B-AB99-1A15FB835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DAE20-4EDA-4EA7-B61C-B417680CE03B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499673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66D7389-5EE0-F293-02E2-0A818ABA2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477E42EA-5602-432C-EAF9-29FAD6891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D2175114-66DB-D460-9339-9BA8904AF6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Tekstin paikkamerkki 4">
            <a:extLst>
              <a:ext uri="{FF2B5EF4-FFF2-40B4-BE49-F238E27FC236}">
                <a16:creationId xmlns:a16="http://schemas.microsoft.com/office/drawing/2014/main" id="{CB574777-0675-C891-CA1A-02631B0B4A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6" name="Sisällön paikkamerkki 5">
            <a:extLst>
              <a:ext uri="{FF2B5EF4-FFF2-40B4-BE49-F238E27FC236}">
                <a16:creationId xmlns:a16="http://schemas.microsoft.com/office/drawing/2014/main" id="{D85696FD-E050-5B77-0D49-F7213683FB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7" name="Päivämäärän paikkamerkki 6">
            <a:extLst>
              <a:ext uri="{FF2B5EF4-FFF2-40B4-BE49-F238E27FC236}">
                <a16:creationId xmlns:a16="http://schemas.microsoft.com/office/drawing/2014/main" id="{A3887830-2CC0-5984-4657-32A5D477C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99CC-D3B6-422F-89CD-7DB5A310BDEB}" type="datetimeFigureOut">
              <a:rPr lang="fi-FI" smtClean="0"/>
              <a:t>20.1.2026</a:t>
            </a:fld>
            <a:endParaRPr lang="fi-FI"/>
          </a:p>
        </p:txBody>
      </p:sp>
      <p:sp>
        <p:nvSpPr>
          <p:cNvPr id="8" name="Alatunnisteen paikkamerkki 7">
            <a:extLst>
              <a:ext uri="{FF2B5EF4-FFF2-40B4-BE49-F238E27FC236}">
                <a16:creationId xmlns:a16="http://schemas.microsoft.com/office/drawing/2014/main" id="{984B4269-DBF3-2F8F-703A-7952EC924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9" name="Dian numeron paikkamerkki 8">
            <a:extLst>
              <a:ext uri="{FF2B5EF4-FFF2-40B4-BE49-F238E27FC236}">
                <a16:creationId xmlns:a16="http://schemas.microsoft.com/office/drawing/2014/main" id="{60B9C948-BE21-C435-9EEF-3FF46B445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DAE20-4EDA-4EA7-B61C-B417680CE03B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362513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0C887F6F-D3C8-9241-AFD3-0A20A51D7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äivämäärän paikkamerkki 2">
            <a:extLst>
              <a:ext uri="{FF2B5EF4-FFF2-40B4-BE49-F238E27FC236}">
                <a16:creationId xmlns:a16="http://schemas.microsoft.com/office/drawing/2014/main" id="{F43221CA-BF7C-39B7-3FD8-AAA4A4880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99CC-D3B6-422F-89CD-7DB5A310BDEB}" type="datetimeFigureOut">
              <a:rPr lang="fi-FI" smtClean="0"/>
              <a:t>20.1.2026</a:t>
            </a:fld>
            <a:endParaRPr lang="fi-FI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9F06E898-686F-223E-410C-DED0676EE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966F41B8-9400-4EEC-3141-D11673797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DAE20-4EDA-4EA7-B61C-B417680CE03B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113056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>
            <a:extLst>
              <a:ext uri="{FF2B5EF4-FFF2-40B4-BE49-F238E27FC236}">
                <a16:creationId xmlns:a16="http://schemas.microsoft.com/office/drawing/2014/main" id="{DA670B8B-959B-2190-B8F6-63DEDE29A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99CC-D3B6-422F-89CD-7DB5A310BDEB}" type="datetimeFigureOut">
              <a:rPr lang="fi-FI" smtClean="0"/>
              <a:t>20.1.2026</a:t>
            </a:fld>
            <a:endParaRPr lang="fi-FI"/>
          </a:p>
        </p:txBody>
      </p:sp>
      <p:sp>
        <p:nvSpPr>
          <p:cNvPr id="3" name="Alatunnisteen paikkamerkki 2">
            <a:extLst>
              <a:ext uri="{FF2B5EF4-FFF2-40B4-BE49-F238E27FC236}">
                <a16:creationId xmlns:a16="http://schemas.microsoft.com/office/drawing/2014/main" id="{D0555112-65DD-23AA-000B-471938914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0B1100B4-4086-D598-EB23-D4B4131FE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DAE20-4EDA-4EA7-B61C-B417680CE03B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14122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uvateksti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6FEC8C5E-C823-2AE2-7312-7092C50EC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7210E039-5B2A-0B09-9D99-7EC31E37D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8A0A88D3-5CF2-2DA8-11B8-E6369DE7E2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620B3CF6-D029-741E-0315-D287AAAAE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99CC-D3B6-422F-89CD-7DB5A310BDEB}" type="datetimeFigureOut">
              <a:rPr lang="fi-FI" smtClean="0"/>
              <a:t>20.1.2026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2A0097C0-99B4-A3F2-0D5A-C86ECD716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3D0B0ED2-B6BD-5647-F2B6-ABC5ACA8E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DAE20-4EDA-4EA7-B61C-B417680CE03B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182021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uvateksti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DF5069C3-0ED7-E481-0F82-C64CD82E5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Kuvan paikkamerkki 2">
            <a:extLst>
              <a:ext uri="{FF2B5EF4-FFF2-40B4-BE49-F238E27FC236}">
                <a16:creationId xmlns:a16="http://schemas.microsoft.com/office/drawing/2014/main" id="{B82BBAC6-9477-D848-0F65-85300674C5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/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E021899E-FB99-CA9E-6E43-A227315D4B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06966DCA-07CD-2DBC-B16D-EA0B20EE0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99CC-D3B6-422F-89CD-7DB5A310BDEB}" type="datetimeFigureOut">
              <a:rPr lang="fi-FI" smtClean="0"/>
              <a:t>20.1.2026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7A0F3266-6332-4B72-21A0-72BB1121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E224DADD-F8DD-A3B2-A38E-C9945B884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DAE20-4EDA-4EA7-B61C-B417680CE03B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284647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8993A7D-8AF1-350D-9011-5D4BAF204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6D208CC6-4408-4CA8-D20D-BE6D2FE2EE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F8073D4F-2A60-5CA2-8A16-6D7D45F15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99CC-D3B6-422F-89CD-7DB5A310BDEB}" type="datetimeFigureOut">
              <a:rPr lang="fi-FI" smtClean="0"/>
              <a:t>20.1.2026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7CE5ADF3-7B89-56CB-1E01-F87ECBB6A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4A813941-3CE1-9ED5-4D11-7647330AB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DAE20-4EDA-4EA7-B61C-B417680CE03B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632409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>
            <a:extLst>
              <a:ext uri="{FF2B5EF4-FFF2-40B4-BE49-F238E27FC236}">
                <a16:creationId xmlns:a16="http://schemas.microsoft.com/office/drawing/2014/main" id="{7C92E4E0-BE16-A683-3081-515E4F62C6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B6AE1111-BB5C-51CE-A53E-451211F891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7473F9D7-CD77-7B01-B77C-5D6FC2B81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99CC-D3B6-422F-89CD-7DB5A310BDEB}" type="datetimeFigureOut">
              <a:rPr lang="fi-FI" smtClean="0"/>
              <a:t>20.1.2026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8BD36E2A-C379-F3BA-F755-E9FAB230C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6263E469-4F2D-8FFA-525D-8D3FE0A72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DAE20-4EDA-4EA7-B61C-B417680CE03B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940045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on paikkamerkki 1">
            <a:extLst>
              <a:ext uri="{FF2B5EF4-FFF2-40B4-BE49-F238E27FC236}">
                <a16:creationId xmlns:a16="http://schemas.microsoft.com/office/drawing/2014/main" id="{250FB2D2-3B5C-B073-60A1-F25C82ADD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6CF511B9-D0A2-994E-D205-99F82CA11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20C58801-C1C0-8D1C-791E-81EEEEADDC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4F99CC-D3B6-422F-89CD-7DB5A310BDEB}" type="datetimeFigureOut">
              <a:rPr lang="fi-FI" smtClean="0"/>
              <a:t>20.1.2026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8197D648-768C-41FE-F258-D7A79ED4E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7CA9F3B2-C97A-9756-4D30-12BD6701D4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8DAE20-4EDA-4EA7-B61C-B417680CE03B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886756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iruutu 1">
            <a:extLst>
              <a:ext uri="{FF2B5EF4-FFF2-40B4-BE49-F238E27FC236}">
                <a16:creationId xmlns:a16="http://schemas.microsoft.com/office/drawing/2014/main" id="{AFC60D8F-D958-2FD1-7804-55854E962845}"/>
              </a:ext>
            </a:extLst>
          </p:cNvPr>
          <p:cNvSpPr txBox="1"/>
          <p:nvPr/>
        </p:nvSpPr>
        <p:spPr>
          <a:xfrm>
            <a:off x="0" y="2176817"/>
            <a:ext cx="380090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/>
              <a:t>Random</a:t>
            </a:r>
            <a:r>
              <a:rPr lang="fi-FI" dirty="0"/>
              <a:t>:</a:t>
            </a:r>
            <a:r>
              <a:rPr lang="fi-FI" b="1" dirty="0"/>
              <a:t> </a:t>
            </a:r>
          </a:p>
          <a:p>
            <a:r>
              <a:rPr lang="fi-FI" dirty="0" err="1"/>
              <a:t>Insertion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26,075ms</a:t>
            </a:r>
          </a:p>
          <a:p>
            <a:r>
              <a:rPr lang="fi-FI" dirty="0" err="1">
                <a:highlight>
                  <a:srgbClr val="FF0000"/>
                </a:highlight>
              </a:rPr>
              <a:t>Bubble</a:t>
            </a:r>
            <a:r>
              <a:rPr lang="fi-FI" dirty="0">
                <a:highlight>
                  <a:srgbClr val="FF0000"/>
                </a:highlight>
              </a:rPr>
              <a:t> </a:t>
            </a:r>
            <a:r>
              <a:rPr lang="fi-FI" dirty="0" err="1">
                <a:highlight>
                  <a:srgbClr val="FF0000"/>
                </a:highlight>
              </a:rPr>
              <a:t>Sort</a:t>
            </a:r>
            <a:r>
              <a:rPr lang="fi-FI" dirty="0">
                <a:highlight>
                  <a:srgbClr val="FF0000"/>
                </a:highlight>
              </a:rPr>
              <a:t>: 68,403ms</a:t>
            </a:r>
          </a:p>
          <a:p>
            <a:r>
              <a:rPr lang="fi-FI" dirty="0"/>
              <a:t>Shell </a:t>
            </a:r>
            <a:r>
              <a:rPr lang="fi-FI" dirty="0" err="1"/>
              <a:t>Sort</a:t>
            </a:r>
            <a:r>
              <a:rPr lang="fi-FI" dirty="0"/>
              <a:t>: 3,238ms</a:t>
            </a:r>
          </a:p>
          <a:p>
            <a:r>
              <a:rPr lang="fi-FI" dirty="0" err="1"/>
              <a:t>Knuth</a:t>
            </a:r>
            <a:r>
              <a:rPr lang="fi-FI" dirty="0"/>
              <a:t> </a:t>
            </a:r>
            <a:r>
              <a:rPr lang="fi-FI" dirty="0" err="1"/>
              <a:t>Sequence</a:t>
            </a:r>
            <a:r>
              <a:rPr lang="fi-FI" dirty="0"/>
              <a:t> Shell </a:t>
            </a:r>
            <a:r>
              <a:rPr lang="fi-FI" dirty="0" err="1"/>
              <a:t>Sort</a:t>
            </a:r>
            <a:r>
              <a:rPr lang="fi-FI" dirty="0"/>
              <a:t>: 2,961ms</a:t>
            </a:r>
          </a:p>
          <a:p>
            <a:r>
              <a:rPr lang="fi-FI" dirty="0" err="1">
                <a:highlight>
                  <a:srgbClr val="00FF00"/>
                </a:highlight>
              </a:rPr>
              <a:t>Quick</a:t>
            </a:r>
            <a:r>
              <a:rPr lang="fi-FI" dirty="0">
                <a:highlight>
                  <a:srgbClr val="00FF00"/>
                </a:highlight>
              </a:rPr>
              <a:t> </a:t>
            </a:r>
            <a:r>
              <a:rPr lang="fi-FI" dirty="0" err="1">
                <a:highlight>
                  <a:srgbClr val="00FF00"/>
                </a:highlight>
              </a:rPr>
              <a:t>Sort</a:t>
            </a:r>
            <a:r>
              <a:rPr lang="fi-FI" dirty="0">
                <a:highlight>
                  <a:srgbClr val="00FF00"/>
                </a:highlight>
              </a:rPr>
              <a:t>: 1,827ms</a:t>
            </a:r>
          </a:p>
          <a:p>
            <a:r>
              <a:rPr lang="fi-FI" dirty="0" err="1"/>
              <a:t>Optimized</a:t>
            </a:r>
            <a:r>
              <a:rPr lang="fi-FI" dirty="0"/>
              <a:t> </a:t>
            </a:r>
            <a:r>
              <a:rPr lang="fi-FI" dirty="0" err="1"/>
              <a:t>Quick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2,184ms</a:t>
            </a:r>
          </a:p>
          <a:p>
            <a:r>
              <a:rPr lang="fi-FI" dirty="0" err="1"/>
              <a:t>Merge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2,206ms</a:t>
            </a:r>
          </a:p>
          <a:p>
            <a:r>
              <a:rPr lang="fi-FI" dirty="0"/>
              <a:t>Java </a:t>
            </a:r>
            <a:r>
              <a:rPr lang="fi-FI" dirty="0" err="1"/>
              <a:t>Arrays.sort</a:t>
            </a:r>
            <a:r>
              <a:rPr lang="fi-FI" dirty="0"/>
              <a:t>: 11,606ms</a:t>
            </a:r>
          </a:p>
        </p:txBody>
      </p:sp>
      <p:sp>
        <p:nvSpPr>
          <p:cNvPr id="3" name="Tekstiruutu 2">
            <a:extLst>
              <a:ext uri="{FF2B5EF4-FFF2-40B4-BE49-F238E27FC236}">
                <a16:creationId xmlns:a16="http://schemas.microsoft.com/office/drawing/2014/main" id="{B2FE3428-3248-575F-CD86-AFBBD47A1B0A}"/>
              </a:ext>
            </a:extLst>
          </p:cNvPr>
          <p:cNvSpPr txBox="1"/>
          <p:nvPr/>
        </p:nvSpPr>
        <p:spPr>
          <a:xfrm flipH="1">
            <a:off x="8140887" y="2149522"/>
            <a:ext cx="405111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/>
              <a:t>Laskeva</a:t>
            </a:r>
            <a:r>
              <a:rPr lang="fi-FI" dirty="0"/>
              <a:t>:</a:t>
            </a:r>
            <a:endParaRPr lang="fi-FI" b="1" dirty="0"/>
          </a:p>
          <a:p>
            <a:r>
              <a:rPr lang="fi-FI" dirty="0" err="1"/>
              <a:t>Insertion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37,464ms</a:t>
            </a:r>
          </a:p>
          <a:p>
            <a:r>
              <a:rPr lang="fi-FI" dirty="0" err="1">
                <a:highlight>
                  <a:srgbClr val="FF0000"/>
                </a:highlight>
              </a:rPr>
              <a:t>Bubble</a:t>
            </a:r>
            <a:r>
              <a:rPr lang="fi-FI" dirty="0">
                <a:highlight>
                  <a:srgbClr val="FF0000"/>
                </a:highlight>
              </a:rPr>
              <a:t> </a:t>
            </a:r>
            <a:r>
              <a:rPr lang="fi-FI" dirty="0" err="1">
                <a:highlight>
                  <a:srgbClr val="FF0000"/>
                </a:highlight>
              </a:rPr>
              <a:t>Sort</a:t>
            </a:r>
            <a:r>
              <a:rPr lang="fi-FI" dirty="0">
                <a:highlight>
                  <a:srgbClr val="FF0000"/>
                </a:highlight>
              </a:rPr>
              <a:t>: 82,412ms</a:t>
            </a:r>
          </a:p>
          <a:p>
            <a:r>
              <a:rPr lang="fi-FI" dirty="0"/>
              <a:t>Shell </a:t>
            </a:r>
            <a:r>
              <a:rPr lang="fi-FI" dirty="0" err="1"/>
              <a:t>Sort</a:t>
            </a:r>
            <a:r>
              <a:rPr lang="fi-FI" dirty="0"/>
              <a:t>: 0,165ms</a:t>
            </a:r>
          </a:p>
          <a:p>
            <a:r>
              <a:rPr lang="fi-FI" dirty="0" err="1">
                <a:highlight>
                  <a:srgbClr val="00FF00"/>
                </a:highlight>
              </a:rPr>
              <a:t>Knuth</a:t>
            </a:r>
            <a:r>
              <a:rPr lang="fi-FI" dirty="0">
                <a:highlight>
                  <a:srgbClr val="00FF00"/>
                </a:highlight>
              </a:rPr>
              <a:t> </a:t>
            </a:r>
            <a:r>
              <a:rPr lang="fi-FI" dirty="0" err="1">
                <a:highlight>
                  <a:srgbClr val="00FF00"/>
                </a:highlight>
              </a:rPr>
              <a:t>Sequence</a:t>
            </a:r>
            <a:r>
              <a:rPr lang="fi-FI" dirty="0">
                <a:highlight>
                  <a:srgbClr val="00FF00"/>
                </a:highlight>
              </a:rPr>
              <a:t> Shell </a:t>
            </a:r>
            <a:r>
              <a:rPr lang="fi-FI" dirty="0" err="1">
                <a:highlight>
                  <a:srgbClr val="00FF00"/>
                </a:highlight>
              </a:rPr>
              <a:t>Sort</a:t>
            </a:r>
            <a:r>
              <a:rPr lang="fi-FI" dirty="0">
                <a:highlight>
                  <a:srgbClr val="00FF00"/>
                </a:highlight>
              </a:rPr>
              <a:t>: 0,118ms</a:t>
            </a:r>
          </a:p>
          <a:p>
            <a:r>
              <a:rPr lang="fi-FI" dirty="0" err="1"/>
              <a:t>Quick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29,764ms</a:t>
            </a:r>
          </a:p>
          <a:p>
            <a:r>
              <a:rPr lang="fi-FI" dirty="0" err="1"/>
              <a:t>Optimized</a:t>
            </a:r>
            <a:r>
              <a:rPr lang="fi-FI" dirty="0"/>
              <a:t> </a:t>
            </a:r>
            <a:r>
              <a:rPr lang="fi-FI" dirty="0" err="1"/>
              <a:t>Quick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0,542ms</a:t>
            </a:r>
          </a:p>
          <a:p>
            <a:r>
              <a:rPr lang="fi-FI" dirty="0" err="1"/>
              <a:t>Merge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0,629ms</a:t>
            </a:r>
          </a:p>
          <a:p>
            <a:r>
              <a:rPr lang="fi-FI" dirty="0"/>
              <a:t>Java </a:t>
            </a:r>
            <a:r>
              <a:rPr lang="fi-FI" dirty="0" err="1"/>
              <a:t>Arrays.sort</a:t>
            </a:r>
            <a:r>
              <a:rPr lang="fi-FI" dirty="0"/>
              <a:t>: 0,217ms</a:t>
            </a:r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BF916D61-A1B7-829B-711C-9FA05545B0A0}"/>
              </a:ext>
            </a:extLst>
          </p:cNvPr>
          <p:cNvSpPr txBox="1"/>
          <p:nvPr/>
        </p:nvSpPr>
        <p:spPr>
          <a:xfrm>
            <a:off x="4051114" y="2176817"/>
            <a:ext cx="378952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/>
              <a:t>Nouseva</a:t>
            </a:r>
            <a:r>
              <a:rPr lang="fi-FI" dirty="0"/>
              <a:t>:</a:t>
            </a:r>
            <a:endParaRPr lang="fi-FI" b="1" dirty="0"/>
          </a:p>
          <a:p>
            <a:r>
              <a:rPr lang="fi-FI" dirty="0" err="1">
                <a:highlight>
                  <a:srgbClr val="00FF00"/>
                </a:highlight>
              </a:rPr>
              <a:t>Insertion</a:t>
            </a:r>
            <a:r>
              <a:rPr lang="fi-FI" dirty="0">
                <a:highlight>
                  <a:srgbClr val="00FF00"/>
                </a:highlight>
              </a:rPr>
              <a:t> </a:t>
            </a:r>
            <a:r>
              <a:rPr lang="fi-FI" dirty="0" err="1">
                <a:highlight>
                  <a:srgbClr val="00FF00"/>
                </a:highlight>
              </a:rPr>
              <a:t>Sort</a:t>
            </a:r>
            <a:r>
              <a:rPr lang="fi-FI" dirty="0">
                <a:highlight>
                  <a:srgbClr val="00FF00"/>
                </a:highlight>
              </a:rPr>
              <a:t>: 0,032ms</a:t>
            </a:r>
          </a:p>
          <a:p>
            <a:r>
              <a:rPr lang="fi-FI" dirty="0" err="1"/>
              <a:t>Bubble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2,171ms</a:t>
            </a:r>
          </a:p>
          <a:p>
            <a:r>
              <a:rPr lang="fi-FI" dirty="0"/>
              <a:t>Shell </a:t>
            </a:r>
            <a:r>
              <a:rPr lang="fi-FI" dirty="0" err="1"/>
              <a:t>Sort</a:t>
            </a:r>
            <a:r>
              <a:rPr lang="fi-FI" dirty="0"/>
              <a:t>: 1,721ms</a:t>
            </a:r>
          </a:p>
          <a:p>
            <a:r>
              <a:rPr lang="fi-FI" dirty="0" err="1"/>
              <a:t>Knuth</a:t>
            </a:r>
            <a:r>
              <a:rPr lang="fi-FI" dirty="0"/>
              <a:t> </a:t>
            </a:r>
            <a:r>
              <a:rPr lang="fi-FI" dirty="0" err="1"/>
              <a:t>Sequence</a:t>
            </a:r>
            <a:r>
              <a:rPr lang="fi-FI" dirty="0"/>
              <a:t> Shell </a:t>
            </a:r>
            <a:r>
              <a:rPr lang="fi-FI" dirty="0" err="1"/>
              <a:t>Sort</a:t>
            </a:r>
            <a:r>
              <a:rPr lang="fi-FI" dirty="0"/>
              <a:t>: 0,135ms</a:t>
            </a:r>
          </a:p>
          <a:p>
            <a:r>
              <a:rPr lang="fi-FI" dirty="0" err="1">
                <a:highlight>
                  <a:srgbClr val="FF0000"/>
                </a:highlight>
              </a:rPr>
              <a:t>Quick</a:t>
            </a:r>
            <a:r>
              <a:rPr lang="fi-FI" dirty="0">
                <a:highlight>
                  <a:srgbClr val="FF0000"/>
                </a:highlight>
              </a:rPr>
              <a:t> </a:t>
            </a:r>
            <a:r>
              <a:rPr lang="fi-FI" dirty="0" err="1">
                <a:highlight>
                  <a:srgbClr val="FF0000"/>
                </a:highlight>
              </a:rPr>
              <a:t>Sort</a:t>
            </a:r>
            <a:r>
              <a:rPr lang="fi-FI" dirty="0">
                <a:highlight>
                  <a:srgbClr val="FF0000"/>
                </a:highlight>
              </a:rPr>
              <a:t>: 62,674ms</a:t>
            </a:r>
          </a:p>
          <a:p>
            <a:r>
              <a:rPr lang="fi-FI" dirty="0" err="1"/>
              <a:t>Optimized</a:t>
            </a:r>
            <a:r>
              <a:rPr lang="fi-FI" dirty="0"/>
              <a:t> </a:t>
            </a:r>
            <a:r>
              <a:rPr lang="fi-FI" dirty="0" err="1"/>
              <a:t>Quick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0,387ms</a:t>
            </a:r>
          </a:p>
          <a:p>
            <a:r>
              <a:rPr lang="fi-FI" dirty="0" err="1"/>
              <a:t>Merge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0,573ms</a:t>
            </a:r>
          </a:p>
          <a:p>
            <a:r>
              <a:rPr lang="fi-FI" dirty="0"/>
              <a:t>Java </a:t>
            </a:r>
            <a:r>
              <a:rPr lang="fi-FI" dirty="0" err="1"/>
              <a:t>Arrays.sort</a:t>
            </a:r>
            <a:r>
              <a:rPr lang="fi-FI" dirty="0"/>
              <a:t>: 0,101ms</a:t>
            </a:r>
          </a:p>
        </p:txBody>
      </p:sp>
      <p:sp>
        <p:nvSpPr>
          <p:cNvPr id="5" name="Tekstiruutu 4">
            <a:extLst>
              <a:ext uri="{FF2B5EF4-FFF2-40B4-BE49-F238E27FC236}">
                <a16:creationId xmlns:a16="http://schemas.microsoft.com/office/drawing/2014/main" id="{B614AB1C-E45B-5D56-6002-38582987E0E7}"/>
              </a:ext>
            </a:extLst>
          </p:cNvPr>
          <p:cNvSpPr txBox="1"/>
          <p:nvPr/>
        </p:nvSpPr>
        <p:spPr>
          <a:xfrm>
            <a:off x="4410505" y="526368"/>
            <a:ext cx="30707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3600" b="1" dirty="0"/>
              <a:t>10 000 Alkiota</a:t>
            </a:r>
          </a:p>
        </p:txBody>
      </p:sp>
      <p:sp>
        <p:nvSpPr>
          <p:cNvPr id="6" name="Tekstiruutu 5">
            <a:extLst>
              <a:ext uri="{FF2B5EF4-FFF2-40B4-BE49-F238E27FC236}">
                <a16:creationId xmlns:a16="http://schemas.microsoft.com/office/drawing/2014/main" id="{0BD1C273-19B1-0E5B-20FE-A843661D6610}"/>
              </a:ext>
            </a:extLst>
          </p:cNvPr>
          <p:cNvSpPr txBox="1"/>
          <p:nvPr/>
        </p:nvSpPr>
        <p:spPr>
          <a:xfrm>
            <a:off x="5359021" y="5685301"/>
            <a:ext cx="14739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>
                <a:highlight>
                  <a:srgbClr val="00FF00"/>
                </a:highlight>
              </a:rPr>
              <a:t>Paras</a:t>
            </a:r>
          </a:p>
          <a:p>
            <a:r>
              <a:rPr lang="fi-FI" dirty="0">
                <a:highlight>
                  <a:srgbClr val="FF0000"/>
                </a:highlight>
              </a:rPr>
              <a:t>Huonoin</a:t>
            </a:r>
          </a:p>
        </p:txBody>
      </p:sp>
    </p:spTree>
    <p:extLst>
      <p:ext uri="{BB962C8B-B14F-4D97-AF65-F5344CB8AC3E}">
        <p14:creationId xmlns:p14="http://schemas.microsoft.com/office/powerpoint/2010/main" val="2236255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BE3F1-E8AA-64DC-C3F1-5C4FA558D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iruutu 1">
            <a:extLst>
              <a:ext uri="{FF2B5EF4-FFF2-40B4-BE49-F238E27FC236}">
                <a16:creationId xmlns:a16="http://schemas.microsoft.com/office/drawing/2014/main" id="{B2BF1B61-63DB-762D-AC5F-8E90E667EF87}"/>
              </a:ext>
            </a:extLst>
          </p:cNvPr>
          <p:cNvSpPr txBox="1"/>
          <p:nvPr/>
        </p:nvSpPr>
        <p:spPr>
          <a:xfrm>
            <a:off x="0" y="2149522"/>
            <a:ext cx="389643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/>
              <a:t>Random</a:t>
            </a:r>
            <a:r>
              <a:rPr lang="fi-FI" dirty="0"/>
              <a:t>: </a:t>
            </a:r>
          </a:p>
          <a:p>
            <a:r>
              <a:rPr lang="fi-FI" dirty="0" err="1"/>
              <a:t>Insertion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15766,262ms</a:t>
            </a:r>
          </a:p>
          <a:p>
            <a:r>
              <a:rPr lang="fi-FI" dirty="0" err="1">
                <a:highlight>
                  <a:srgbClr val="FF0000"/>
                </a:highlight>
              </a:rPr>
              <a:t>Bubble</a:t>
            </a:r>
            <a:r>
              <a:rPr lang="fi-FI" dirty="0">
                <a:highlight>
                  <a:srgbClr val="FF0000"/>
                </a:highlight>
              </a:rPr>
              <a:t> </a:t>
            </a:r>
            <a:r>
              <a:rPr lang="fi-FI" dirty="0" err="1">
                <a:highlight>
                  <a:srgbClr val="FF0000"/>
                </a:highlight>
              </a:rPr>
              <a:t>Sort</a:t>
            </a:r>
            <a:r>
              <a:rPr lang="fi-FI" dirty="0">
                <a:highlight>
                  <a:srgbClr val="FF0000"/>
                </a:highlight>
              </a:rPr>
              <a:t>: 145833,526ms</a:t>
            </a:r>
          </a:p>
          <a:p>
            <a:r>
              <a:rPr lang="fi-FI" dirty="0"/>
              <a:t>Shell </a:t>
            </a:r>
            <a:r>
              <a:rPr lang="fi-FI" dirty="0" err="1"/>
              <a:t>Sort</a:t>
            </a:r>
            <a:r>
              <a:rPr lang="fi-FI" dirty="0"/>
              <a:t>: 54,956ms</a:t>
            </a:r>
          </a:p>
          <a:p>
            <a:r>
              <a:rPr lang="fi-FI" dirty="0" err="1"/>
              <a:t>Knuth</a:t>
            </a:r>
            <a:r>
              <a:rPr lang="fi-FI" dirty="0"/>
              <a:t> </a:t>
            </a:r>
            <a:r>
              <a:rPr lang="fi-FI" dirty="0" err="1"/>
              <a:t>Sequence</a:t>
            </a:r>
            <a:r>
              <a:rPr lang="fi-FI" dirty="0"/>
              <a:t> Shell </a:t>
            </a:r>
            <a:r>
              <a:rPr lang="fi-FI" dirty="0" err="1"/>
              <a:t>Sort</a:t>
            </a:r>
            <a:r>
              <a:rPr lang="fi-FI" dirty="0"/>
              <a:t>: 46,766ms</a:t>
            </a:r>
          </a:p>
          <a:p>
            <a:r>
              <a:rPr lang="fi-FI" dirty="0" err="1">
                <a:highlight>
                  <a:srgbClr val="00FF00"/>
                </a:highlight>
              </a:rPr>
              <a:t>Quick</a:t>
            </a:r>
            <a:r>
              <a:rPr lang="fi-FI" dirty="0">
                <a:highlight>
                  <a:srgbClr val="00FF00"/>
                </a:highlight>
              </a:rPr>
              <a:t> </a:t>
            </a:r>
            <a:r>
              <a:rPr lang="fi-FI" dirty="0" err="1">
                <a:highlight>
                  <a:srgbClr val="00FF00"/>
                </a:highlight>
              </a:rPr>
              <a:t>Sort</a:t>
            </a:r>
            <a:r>
              <a:rPr lang="fi-FI" dirty="0">
                <a:highlight>
                  <a:srgbClr val="00FF00"/>
                </a:highlight>
              </a:rPr>
              <a:t>: 39,449ms</a:t>
            </a:r>
          </a:p>
          <a:p>
            <a:r>
              <a:rPr lang="fi-FI" dirty="0" err="1"/>
              <a:t>Optimized</a:t>
            </a:r>
            <a:r>
              <a:rPr lang="fi-FI" dirty="0"/>
              <a:t> </a:t>
            </a:r>
            <a:r>
              <a:rPr lang="fi-FI" dirty="0" err="1"/>
              <a:t>Quick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46,896ms</a:t>
            </a:r>
          </a:p>
          <a:p>
            <a:r>
              <a:rPr lang="fi-FI" dirty="0" err="1"/>
              <a:t>Merge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61,340ms</a:t>
            </a:r>
          </a:p>
          <a:p>
            <a:r>
              <a:rPr lang="fi-FI" dirty="0"/>
              <a:t>Java </a:t>
            </a:r>
            <a:r>
              <a:rPr lang="fi-FI" dirty="0" err="1"/>
              <a:t>Arrays.sort</a:t>
            </a:r>
            <a:r>
              <a:rPr lang="fi-FI" dirty="0"/>
              <a:t>: 129,775ms</a:t>
            </a:r>
          </a:p>
        </p:txBody>
      </p:sp>
      <p:sp>
        <p:nvSpPr>
          <p:cNvPr id="3" name="Tekstiruutu 2">
            <a:extLst>
              <a:ext uri="{FF2B5EF4-FFF2-40B4-BE49-F238E27FC236}">
                <a16:creationId xmlns:a16="http://schemas.microsoft.com/office/drawing/2014/main" id="{A2242C55-D625-4102-45CB-F017F9FEF94F}"/>
              </a:ext>
            </a:extLst>
          </p:cNvPr>
          <p:cNvSpPr txBox="1"/>
          <p:nvPr/>
        </p:nvSpPr>
        <p:spPr>
          <a:xfrm flipH="1">
            <a:off x="8140888" y="2149522"/>
            <a:ext cx="405111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/>
              <a:t>Laskeva</a:t>
            </a:r>
            <a:r>
              <a:rPr lang="fi-FI" dirty="0"/>
              <a:t>: </a:t>
            </a:r>
          </a:p>
          <a:p>
            <a:r>
              <a:rPr lang="fi-FI" dirty="0" err="1"/>
              <a:t>Insertion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26456,033ms</a:t>
            </a:r>
          </a:p>
          <a:p>
            <a:r>
              <a:rPr lang="fi-FI" dirty="0" err="1">
                <a:highlight>
                  <a:srgbClr val="FF0000"/>
                </a:highlight>
              </a:rPr>
              <a:t>Bubble</a:t>
            </a:r>
            <a:r>
              <a:rPr lang="fi-FI" dirty="0">
                <a:highlight>
                  <a:srgbClr val="FF0000"/>
                </a:highlight>
              </a:rPr>
              <a:t> </a:t>
            </a:r>
            <a:r>
              <a:rPr lang="fi-FI" dirty="0" err="1">
                <a:highlight>
                  <a:srgbClr val="FF0000"/>
                </a:highlight>
              </a:rPr>
              <a:t>Sort</a:t>
            </a:r>
            <a:r>
              <a:rPr lang="fi-FI" dirty="0">
                <a:highlight>
                  <a:srgbClr val="FF0000"/>
                </a:highlight>
              </a:rPr>
              <a:t>: 57396,893ms</a:t>
            </a:r>
          </a:p>
          <a:p>
            <a:r>
              <a:rPr lang="fi-FI" dirty="0"/>
              <a:t>Shell </a:t>
            </a:r>
            <a:r>
              <a:rPr lang="fi-FI" dirty="0" err="1"/>
              <a:t>Sort</a:t>
            </a:r>
            <a:r>
              <a:rPr lang="fi-FI" dirty="0"/>
              <a:t>: 4,827ms</a:t>
            </a:r>
          </a:p>
          <a:p>
            <a:r>
              <a:rPr lang="fi-FI" dirty="0" err="1">
                <a:highlight>
                  <a:srgbClr val="00FF00"/>
                </a:highlight>
              </a:rPr>
              <a:t>Knuth</a:t>
            </a:r>
            <a:r>
              <a:rPr lang="fi-FI" dirty="0">
                <a:highlight>
                  <a:srgbClr val="00FF00"/>
                </a:highlight>
              </a:rPr>
              <a:t> </a:t>
            </a:r>
            <a:r>
              <a:rPr lang="fi-FI" dirty="0" err="1">
                <a:highlight>
                  <a:srgbClr val="00FF00"/>
                </a:highlight>
              </a:rPr>
              <a:t>Sequence</a:t>
            </a:r>
            <a:r>
              <a:rPr lang="fi-FI" dirty="0">
                <a:highlight>
                  <a:srgbClr val="00FF00"/>
                </a:highlight>
              </a:rPr>
              <a:t> Shell </a:t>
            </a:r>
            <a:r>
              <a:rPr lang="fi-FI" dirty="0" err="1">
                <a:highlight>
                  <a:srgbClr val="00FF00"/>
                </a:highlight>
              </a:rPr>
              <a:t>Sort</a:t>
            </a:r>
            <a:r>
              <a:rPr lang="fi-FI" dirty="0">
                <a:highlight>
                  <a:srgbClr val="00FF00"/>
                </a:highlight>
              </a:rPr>
              <a:t>: 3,845ms</a:t>
            </a:r>
          </a:p>
          <a:p>
            <a:r>
              <a:rPr lang="fi-FI" dirty="0" err="1"/>
              <a:t>Quick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22869,827ms</a:t>
            </a:r>
          </a:p>
          <a:p>
            <a:r>
              <a:rPr lang="fi-FI" dirty="0" err="1"/>
              <a:t>Optimized</a:t>
            </a:r>
            <a:r>
              <a:rPr lang="fi-FI" dirty="0"/>
              <a:t> </a:t>
            </a:r>
            <a:r>
              <a:rPr lang="fi-FI" dirty="0" err="1"/>
              <a:t>Quick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11,923ms</a:t>
            </a:r>
          </a:p>
          <a:p>
            <a:r>
              <a:rPr lang="fi-FI" dirty="0" err="1"/>
              <a:t>Merge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13,630ms</a:t>
            </a:r>
          </a:p>
          <a:p>
            <a:r>
              <a:rPr lang="fi-FI" dirty="0"/>
              <a:t>Java </a:t>
            </a:r>
            <a:r>
              <a:rPr lang="fi-FI" dirty="0" err="1"/>
              <a:t>Arrays.sort</a:t>
            </a:r>
            <a:r>
              <a:rPr lang="fi-FI" dirty="0"/>
              <a:t>: 6,944ms</a:t>
            </a:r>
            <a:endParaRPr lang="fi-FI" dirty="0">
              <a:highlight>
                <a:srgbClr val="00FF00"/>
              </a:highlight>
            </a:endParaRPr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7DA3D183-30BC-4B78-55D1-FF8E183AD5A0}"/>
              </a:ext>
            </a:extLst>
          </p:cNvPr>
          <p:cNvSpPr txBox="1"/>
          <p:nvPr/>
        </p:nvSpPr>
        <p:spPr>
          <a:xfrm>
            <a:off x="4039737" y="2149522"/>
            <a:ext cx="405111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/>
              <a:t>Nouseva</a:t>
            </a:r>
            <a:r>
              <a:rPr lang="fi-FI" dirty="0"/>
              <a:t>: </a:t>
            </a:r>
          </a:p>
          <a:p>
            <a:r>
              <a:rPr lang="fi-FI" dirty="0" err="1"/>
              <a:t>Insertion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2,659ms</a:t>
            </a:r>
          </a:p>
          <a:p>
            <a:r>
              <a:rPr lang="fi-FI" dirty="0" err="1">
                <a:highlight>
                  <a:srgbClr val="00FF00"/>
                </a:highlight>
              </a:rPr>
              <a:t>Bubble</a:t>
            </a:r>
            <a:r>
              <a:rPr lang="fi-FI" dirty="0">
                <a:highlight>
                  <a:srgbClr val="00FF00"/>
                </a:highlight>
              </a:rPr>
              <a:t> </a:t>
            </a:r>
            <a:r>
              <a:rPr lang="fi-FI" dirty="0" err="1">
                <a:highlight>
                  <a:srgbClr val="00FF00"/>
                </a:highlight>
              </a:rPr>
              <a:t>Sort</a:t>
            </a:r>
            <a:r>
              <a:rPr lang="fi-FI" dirty="0">
                <a:highlight>
                  <a:srgbClr val="00FF00"/>
                </a:highlight>
              </a:rPr>
              <a:t>: 0,347ms</a:t>
            </a:r>
          </a:p>
          <a:p>
            <a:r>
              <a:rPr lang="fi-FI" dirty="0"/>
              <a:t>Shell </a:t>
            </a:r>
            <a:r>
              <a:rPr lang="fi-FI" dirty="0" err="1"/>
              <a:t>Sort</a:t>
            </a:r>
            <a:r>
              <a:rPr lang="fi-FI" dirty="0"/>
              <a:t>: 14,073ms</a:t>
            </a:r>
          </a:p>
          <a:p>
            <a:r>
              <a:rPr lang="fi-FI" dirty="0" err="1"/>
              <a:t>Knuth</a:t>
            </a:r>
            <a:r>
              <a:rPr lang="fi-FI" dirty="0"/>
              <a:t> </a:t>
            </a:r>
            <a:r>
              <a:rPr lang="fi-FI" dirty="0" err="1"/>
              <a:t>Sequence</a:t>
            </a:r>
            <a:r>
              <a:rPr lang="fi-FI" dirty="0"/>
              <a:t> Shell </a:t>
            </a:r>
            <a:r>
              <a:rPr lang="fi-FI" dirty="0" err="1"/>
              <a:t>Sort</a:t>
            </a:r>
            <a:r>
              <a:rPr lang="fi-FI" dirty="0"/>
              <a:t>: 9,760ms</a:t>
            </a:r>
          </a:p>
          <a:p>
            <a:r>
              <a:rPr lang="fi-FI" dirty="0" err="1">
                <a:highlight>
                  <a:srgbClr val="FF0000"/>
                </a:highlight>
              </a:rPr>
              <a:t>Quick</a:t>
            </a:r>
            <a:r>
              <a:rPr lang="fi-FI" dirty="0">
                <a:highlight>
                  <a:srgbClr val="FF0000"/>
                </a:highlight>
              </a:rPr>
              <a:t> </a:t>
            </a:r>
            <a:r>
              <a:rPr lang="fi-FI" dirty="0" err="1">
                <a:highlight>
                  <a:srgbClr val="FF0000"/>
                </a:highlight>
              </a:rPr>
              <a:t>Sort</a:t>
            </a:r>
            <a:r>
              <a:rPr lang="fi-FI" dirty="0">
                <a:highlight>
                  <a:srgbClr val="FF0000"/>
                </a:highlight>
              </a:rPr>
              <a:t>: 50738,007ms</a:t>
            </a:r>
          </a:p>
          <a:p>
            <a:r>
              <a:rPr lang="fi-FI" dirty="0" err="1"/>
              <a:t>Optimized</a:t>
            </a:r>
            <a:r>
              <a:rPr lang="fi-FI" dirty="0"/>
              <a:t> </a:t>
            </a:r>
            <a:r>
              <a:rPr lang="fi-FI" dirty="0" err="1"/>
              <a:t>Quick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8,773ms</a:t>
            </a:r>
          </a:p>
          <a:p>
            <a:r>
              <a:rPr lang="fi-FI" dirty="0" err="1"/>
              <a:t>Merge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12,783ms</a:t>
            </a:r>
          </a:p>
          <a:p>
            <a:r>
              <a:rPr lang="fi-FI" dirty="0"/>
              <a:t>Java </a:t>
            </a:r>
            <a:r>
              <a:rPr lang="fi-FI" dirty="0" err="1"/>
              <a:t>Arrays.sort</a:t>
            </a:r>
            <a:r>
              <a:rPr lang="fi-FI" dirty="0"/>
              <a:t>: 2,529ms</a:t>
            </a:r>
          </a:p>
        </p:txBody>
      </p:sp>
      <p:sp>
        <p:nvSpPr>
          <p:cNvPr id="5" name="Tekstiruutu 4">
            <a:extLst>
              <a:ext uri="{FF2B5EF4-FFF2-40B4-BE49-F238E27FC236}">
                <a16:creationId xmlns:a16="http://schemas.microsoft.com/office/drawing/2014/main" id="{46522BD6-BFAF-5D10-29AC-54002D3DACAF}"/>
              </a:ext>
            </a:extLst>
          </p:cNvPr>
          <p:cNvSpPr txBox="1"/>
          <p:nvPr/>
        </p:nvSpPr>
        <p:spPr>
          <a:xfrm>
            <a:off x="4039737" y="880280"/>
            <a:ext cx="4101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3600" b="1" dirty="0"/>
              <a:t>250 000 Alkiota</a:t>
            </a:r>
          </a:p>
        </p:txBody>
      </p:sp>
    </p:spTree>
    <p:extLst>
      <p:ext uri="{BB962C8B-B14F-4D97-AF65-F5344CB8AC3E}">
        <p14:creationId xmlns:p14="http://schemas.microsoft.com/office/powerpoint/2010/main" val="2788372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7DD87-401A-7390-AFB4-24CD3957E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iruutu 3">
            <a:extLst>
              <a:ext uri="{FF2B5EF4-FFF2-40B4-BE49-F238E27FC236}">
                <a16:creationId xmlns:a16="http://schemas.microsoft.com/office/drawing/2014/main" id="{1D299D79-8874-68FC-3000-A5C705813ECA}"/>
              </a:ext>
            </a:extLst>
          </p:cNvPr>
          <p:cNvSpPr txBox="1"/>
          <p:nvPr/>
        </p:nvSpPr>
        <p:spPr>
          <a:xfrm>
            <a:off x="3384644" y="2067636"/>
            <a:ext cx="52407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 err="1"/>
              <a:t>Insertion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n. 42 sekuntia</a:t>
            </a:r>
          </a:p>
          <a:p>
            <a:r>
              <a:rPr lang="fi-FI" dirty="0" err="1">
                <a:highlight>
                  <a:srgbClr val="FF0000"/>
                </a:highlight>
              </a:rPr>
              <a:t>Bubble</a:t>
            </a:r>
            <a:r>
              <a:rPr lang="fi-FI" dirty="0">
                <a:highlight>
                  <a:srgbClr val="FF0000"/>
                </a:highlight>
              </a:rPr>
              <a:t> </a:t>
            </a:r>
            <a:r>
              <a:rPr lang="fi-FI" dirty="0" err="1">
                <a:highlight>
                  <a:srgbClr val="FF0000"/>
                </a:highlight>
              </a:rPr>
              <a:t>Sort</a:t>
            </a:r>
            <a:r>
              <a:rPr lang="fi-FI" dirty="0">
                <a:highlight>
                  <a:srgbClr val="FF0000"/>
                </a:highlight>
              </a:rPr>
              <a:t>: n. 2 min 23 sekuntia</a:t>
            </a:r>
          </a:p>
          <a:p>
            <a:r>
              <a:rPr lang="fi-FI" dirty="0"/>
              <a:t>Shell </a:t>
            </a:r>
            <a:r>
              <a:rPr lang="fi-FI" dirty="0" err="1"/>
              <a:t>Sort</a:t>
            </a:r>
            <a:r>
              <a:rPr lang="fi-FI" dirty="0"/>
              <a:t>: n. 73 millisekuntia</a:t>
            </a:r>
          </a:p>
          <a:p>
            <a:r>
              <a:rPr lang="fi-FI" dirty="0" err="1">
                <a:highlight>
                  <a:srgbClr val="00FF00"/>
                </a:highlight>
              </a:rPr>
              <a:t>Knuth</a:t>
            </a:r>
            <a:r>
              <a:rPr lang="fi-FI" dirty="0">
                <a:highlight>
                  <a:srgbClr val="00FF00"/>
                </a:highlight>
              </a:rPr>
              <a:t> </a:t>
            </a:r>
            <a:r>
              <a:rPr lang="fi-FI" dirty="0" err="1">
                <a:highlight>
                  <a:srgbClr val="00FF00"/>
                </a:highlight>
              </a:rPr>
              <a:t>Sequence</a:t>
            </a:r>
            <a:r>
              <a:rPr lang="fi-FI" dirty="0">
                <a:highlight>
                  <a:srgbClr val="00FF00"/>
                </a:highlight>
              </a:rPr>
              <a:t> Shell </a:t>
            </a:r>
            <a:r>
              <a:rPr lang="fi-FI" dirty="0" err="1">
                <a:highlight>
                  <a:srgbClr val="00FF00"/>
                </a:highlight>
              </a:rPr>
              <a:t>Sort</a:t>
            </a:r>
            <a:r>
              <a:rPr lang="fi-FI" dirty="0">
                <a:highlight>
                  <a:srgbClr val="00FF00"/>
                </a:highlight>
              </a:rPr>
              <a:t>: n. 60 millisekuntia</a:t>
            </a:r>
          </a:p>
          <a:p>
            <a:r>
              <a:rPr lang="fi-FI" dirty="0" err="1"/>
              <a:t>Quick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n. 73 sekuntia</a:t>
            </a:r>
          </a:p>
          <a:p>
            <a:r>
              <a:rPr lang="fi-FI" dirty="0" err="1"/>
              <a:t>Optimized</a:t>
            </a:r>
            <a:r>
              <a:rPr lang="fi-FI" dirty="0"/>
              <a:t> </a:t>
            </a:r>
            <a:r>
              <a:rPr lang="fi-FI" dirty="0" err="1"/>
              <a:t>Quick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n. 67 millisekuntia</a:t>
            </a:r>
          </a:p>
          <a:p>
            <a:r>
              <a:rPr lang="fi-FI" dirty="0" err="1"/>
              <a:t>Merge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n. 87 millisekuntia</a:t>
            </a:r>
          </a:p>
          <a:p>
            <a:r>
              <a:rPr lang="fi-FI" dirty="0"/>
              <a:t>Java </a:t>
            </a:r>
            <a:r>
              <a:rPr lang="fi-FI" dirty="0" err="1"/>
              <a:t>Arrays.sort</a:t>
            </a:r>
            <a:r>
              <a:rPr lang="fi-FI" dirty="0"/>
              <a:t>: n. 139 millisekuntia</a:t>
            </a:r>
          </a:p>
        </p:txBody>
      </p:sp>
      <p:sp>
        <p:nvSpPr>
          <p:cNvPr id="5" name="Tekstiruutu 4">
            <a:extLst>
              <a:ext uri="{FF2B5EF4-FFF2-40B4-BE49-F238E27FC236}">
                <a16:creationId xmlns:a16="http://schemas.microsoft.com/office/drawing/2014/main" id="{0BC5C47B-63E5-06A4-C6A6-D03F1932668E}"/>
              </a:ext>
            </a:extLst>
          </p:cNvPr>
          <p:cNvSpPr txBox="1"/>
          <p:nvPr/>
        </p:nvSpPr>
        <p:spPr>
          <a:xfrm>
            <a:off x="2257567" y="423080"/>
            <a:ext cx="7615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3600" b="1" dirty="0"/>
              <a:t>250 000 Alkion yhteenlaskettu aika</a:t>
            </a:r>
          </a:p>
        </p:txBody>
      </p:sp>
    </p:spTree>
    <p:extLst>
      <p:ext uri="{BB962C8B-B14F-4D97-AF65-F5344CB8AC3E}">
        <p14:creationId xmlns:p14="http://schemas.microsoft.com/office/powerpoint/2010/main" val="1610972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iruutu 1">
            <a:extLst>
              <a:ext uri="{FF2B5EF4-FFF2-40B4-BE49-F238E27FC236}">
                <a16:creationId xmlns:a16="http://schemas.microsoft.com/office/drawing/2014/main" id="{7168F0AB-D104-7978-2FFA-D0FF4F830667}"/>
              </a:ext>
            </a:extLst>
          </p:cNvPr>
          <p:cNvSpPr txBox="1"/>
          <p:nvPr/>
        </p:nvSpPr>
        <p:spPr>
          <a:xfrm>
            <a:off x="4700041" y="143301"/>
            <a:ext cx="27919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sz="3600" b="1" dirty="0"/>
              <a:t>Mittauksista</a:t>
            </a:r>
          </a:p>
        </p:txBody>
      </p:sp>
      <p:sp>
        <p:nvSpPr>
          <p:cNvPr id="5" name="Tekstiruutu 4">
            <a:extLst>
              <a:ext uri="{FF2B5EF4-FFF2-40B4-BE49-F238E27FC236}">
                <a16:creationId xmlns:a16="http://schemas.microsoft.com/office/drawing/2014/main" id="{E65869A4-8EF4-CC97-9842-F0C74ADF59A9}"/>
              </a:ext>
            </a:extLst>
          </p:cNvPr>
          <p:cNvSpPr txBox="1"/>
          <p:nvPr/>
        </p:nvSpPr>
        <p:spPr>
          <a:xfrm>
            <a:off x="394471" y="846161"/>
            <a:ext cx="1140305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dirty="0"/>
              <a:t>Randomilla datalla </a:t>
            </a:r>
            <a:r>
              <a:rPr lang="fi-FI" dirty="0" err="1"/>
              <a:t>quick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 on kuningas rekursion ja pienen muistinkäytön ansiosta. </a:t>
            </a:r>
            <a:r>
              <a:rPr lang="fi-FI" dirty="0" err="1"/>
              <a:t>Knuthin</a:t>
            </a:r>
            <a:r>
              <a:rPr lang="fi-FI" dirty="0"/>
              <a:t> sarjaa käyttävä</a:t>
            </a:r>
          </a:p>
          <a:p>
            <a:r>
              <a:rPr lang="fi-FI" dirty="0" err="1"/>
              <a:t>shell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 tuli vahvaksi kakkoseksi. Optimoitu </a:t>
            </a:r>
            <a:r>
              <a:rPr lang="fi-FI" dirty="0" err="1"/>
              <a:t>quick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 ei vielä näyttänyt kynsiään, koska uuden random </a:t>
            </a:r>
            <a:r>
              <a:rPr lang="fi-FI" dirty="0" err="1"/>
              <a:t>integerin</a:t>
            </a:r>
            <a:endParaRPr lang="fi-FI" dirty="0"/>
          </a:p>
          <a:p>
            <a:r>
              <a:rPr lang="fi-FI" dirty="0"/>
              <a:t>luominen vie suoritusvoimaa. </a:t>
            </a:r>
          </a:p>
          <a:p>
            <a:r>
              <a:rPr lang="fi-FI" dirty="0"/>
              <a:t>Selvästi hitain oli </a:t>
            </a:r>
            <a:r>
              <a:rPr lang="fi-FI" dirty="0" err="1"/>
              <a:t>bubble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 sen O(n^2) aikavaatimuksen takia randomilla datalla.</a:t>
            </a:r>
          </a:p>
        </p:txBody>
      </p:sp>
      <p:sp>
        <p:nvSpPr>
          <p:cNvPr id="6" name="Tekstiruutu 5">
            <a:extLst>
              <a:ext uri="{FF2B5EF4-FFF2-40B4-BE49-F238E27FC236}">
                <a16:creationId xmlns:a16="http://schemas.microsoft.com/office/drawing/2014/main" id="{CD6A10A7-9532-5678-9705-DEBB4D966AAB}"/>
              </a:ext>
            </a:extLst>
          </p:cNvPr>
          <p:cNvSpPr txBox="1"/>
          <p:nvPr/>
        </p:nvSpPr>
        <p:spPr>
          <a:xfrm>
            <a:off x="394471" y="2486167"/>
            <a:ext cx="119523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dirty="0"/>
              <a:t>Nousevalla datalla </a:t>
            </a:r>
            <a:r>
              <a:rPr lang="fi-FI" dirty="0" err="1"/>
              <a:t>bubble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 oli selvä voittaja sen </a:t>
            </a:r>
            <a:r>
              <a:rPr lang="fi-FI" dirty="0" err="1"/>
              <a:t>if</a:t>
            </a:r>
            <a:r>
              <a:rPr lang="fi-FI" dirty="0"/>
              <a:t> (!</a:t>
            </a:r>
            <a:r>
              <a:rPr lang="fi-FI" dirty="0" err="1"/>
              <a:t>swapped</a:t>
            </a:r>
            <a:r>
              <a:rPr lang="fi-FI" dirty="0"/>
              <a:t>) </a:t>
            </a:r>
            <a:r>
              <a:rPr lang="fi-FI" dirty="0" err="1"/>
              <a:t>return</a:t>
            </a:r>
            <a:r>
              <a:rPr lang="fi-FI" dirty="0"/>
              <a:t>; lauseen takia, joka saa nousevalla datalla</a:t>
            </a:r>
          </a:p>
          <a:p>
            <a:r>
              <a:rPr lang="fi-FI" dirty="0"/>
              <a:t>sen aikavaatimukseksi O(n), sillä jos se ei vaihda yhtään elementtiä, se lopettaa funktion.</a:t>
            </a:r>
          </a:p>
          <a:p>
            <a:r>
              <a:rPr lang="fi-FI" dirty="0"/>
              <a:t>Huonoin oli normaali </a:t>
            </a:r>
            <a:r>
              <a:rPr lang="fi-FI" dirty="0" err="1"/>
              <a:t>quick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, sillä </a:t>
            </a:r>
            <a:r>
              <a:rPr lang="fi-FI" dirty="0" err="1"/>
              <a:t>pivotin</a:t>
            </a:r>
            <a:r>
              <a:rPr lang="fi-FI" dirty="0"/>
              <a:t> valitseminen listan viimeisestä elementistä tarkoittaa, että funktio </a:t>
            </a:r>
            <a:r>
              <a:rPr lang="fi-FI" dirty="0" err="1"/>
              <a:t>rekursoi</a:t>
            </a:r>
            <a:endParaRPr lang="fi-FI" dirty="0"/>
          </a:p>
          <a:p>
            <a:r>
              <a:rPr lang="fi-FI" dirty="0"/>
              <a:t>Itseään </a:t>
            </a:r>
            <a:r>
              <a:rPr lang="fi-FI" dirty="0" err="1"/>
              <a:t>alkoiden</a:t>
            </a:r>
            <a:r>
              <a:rPr lang="fi-FI" dirty="0"/>
              <a:t> verran -1. Tästä syntyy yleensä </a:t>
            </a:r>
            <a:r>
              <a:rPr lang="fi-FI" dirty="0" err="1"/>
              <a:t>stack</a:t>
            </a:r>
            <a:r>
              <a:rPr lang="fi-FI" dirty="0"/>
              <a:t> </a:t>
            </a:r>
            <a:r>
              <a:rPr lang="fi-FI" dirty="0" err="1"/>
              <a:t>overflow</a:t>
            </a:r>
            <a:r>
              <a:rPr lang="fi-FI" dirty="0"/>
              <a:t>, koska muisti ei riitä niin moneen rekursioon. </a:t>
            </a:r>
          </a:p>
        </p:txBody>
      </p:sp>
      <p:sp>
        <p:nvSpPr>
          <p:cNvPr id="7" name="Tekstiruutu 6">
            <a:extLst>
              <a:ext uri="{FF2B5EF4-FFF2-40B4-BE49-F238E27FC236}">
                <a16:creationId xmlns:a16="http://schemas.microsoft.com/office/drawing/2014/main" id="{D566457E-9D33-D10A-3725-BE86483AD948}"/>
              </a:ext>
            </a:extLst>
          </p:cNvPr>
          <p:cNvSpPr txBox="1"/>
          <p:nvPr/>
        </p:nvSpPr>
        <p:spPr>
          <a:xfrm>
            <a:off x="394471" y="4211346"/>
            <a:ext cx="1190505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dirty="0"/>
              <a:t>Laskevalla datalla selvä voittaja oli </a:t>
            </a:r>
            <a:r>
              <a:rPr lang="fi-FI" dirty="0" err="1"/>
              <a:t>Knuthin</a:t>
            </a:r>
            <a:r>
              <a:rPr lang="fi-FI" dirty="0"/>
              <a:t> sarjaa käyttävä </a:t>
            </a:r>
            <a:r>
              <a:rPr lang="fi-FI" dirty="0" err="1"/>
              <a:t>shell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, sillä se voi yhdessä kierroksessa vaihtaa useiden </a:t>
            </a:r>
          </a:p>
          <a:p>
            <a:r>
              <a:rPr lang="fi-FI" dirty="0"/>
              <a:t>elementtien paikkaa isojen hyppyjen ansiosta. </a:t>
            </a:r>
          </a:p>
          <a:p>
            <a:r>
              <a:rPr lang="fi-FI" dirty="0" err="1"/>
              <a:t>Bubble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 hävisi taas suurella määrällä O(n^2) aikavaatimuksen takia.</a:t>
            </a:r>
          </a:p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625242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iruutu 1">
            <a:extLst>
              <a:ext uri="{FF2B5EF4-FFF2-40B4-BE49-F238E27FC236}">
                <a16:creationId xmlns:a16="http://schemas.microsoft.com/office/drawing/2014/main" id="{AF93C99B-5A88-0A6D-D5A2-72555C60C0A5}"/>
              </a:ext>
            </a:extLst>
          </p:cNvPr>
          <p:cNvSpPr txBox="1"/>
          <p:nvPr/>
        </p:nvSpPr>
        <p:spPr>
          <a:xfrm>
            <a:off x="1589964" y="648269"/>
            <a:ext cx="102820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sz="3200" b="1" dirty="0"/>
              <a:t>Käytin funktioiden testaamiseen </a:t>
            </a:r>
            <a:r>
              <a:rPr lang="fi-FI" sz="3200" b="1" dirty="0" err="1"/>
              <a:t>function</a:t>
            </a:r>
            <a:r>
              <a:rPr lang="fi-FI" sz="3200" b="1" dirty="0"/>
              <a:t> pointtereita:</a:t>
            </a:r>
          </a:p>
        </p:txBody>
      </p:sp>
      <p:sp>
        <p:nvSpPr>
          <p:cNvPr id="3" name="Tekstiruutu 2">
            <a:extLst>
              <a:ext uri="{FF2B5EF4-FFF2-40B4-BE49-F238E27FC236}">
                <a16:creationId xmlns:a16="http://schemas.microsoft.com/office/drawing/2014/main" id="{530ADD85-1E03-B10D-94F6-3BBC0D2DCFE4}"/>
              </a:ext>
            </a:extLst>
          </p:cNvPr>
          <p:cNvSpPr txBox="1"/>
          <p:nvPr/>
        </p:nvSpPr>
        <p:spPr>
          <a:xfrm>
            <a:off x="921224" y="1899117"/>
            <a:ext cx="1108880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 err="1"/>
              <a:t>public</a:t>
            </a:r>
            <a:r>
              <a:rPr lang="fi-FI" dirty="0"/>
              <a:t> </a:t>
            </a:r>
            <a:r>
              <a:rPr lang="fi-FI" dirty="0" err="1"/>
              <a:t>static</a:t>
            </a:r>
            <a:r>
              <a:rPr lang="fi-FI" dirty="0"/>
              <a:t> </a:t>
            </a:r>
            <a:r>
              <a:rPr lang="fi-FI" dirty="0" err="1"/>
              <a:t>void</a:t>
            </a:r>
            <a:r>
              <a:rPr lang="fi-FI" dirty="0"/>
              <a:t> </a:t>
            </a:r>
            <a:r>
              <a:rPr lang="fi-FI" dirty="0" err="1"/>
              <a:t>measureExecSpeed</a:t>
            </a:r>
            <a:r>
              <a:rPr lang="fi-FI" dirty="0"/>
              <a:t>(</a:t>
            </a:r>
            <a:r>
              <a:rPr lang="fi-FI" dirty="0" err="1"/>
              <a:t>FunctionPointer</a:t>
            </a:r>
            <a:r>
              <a:rPr lang="fi-FI" dirty="0"/>
              <a:t> </a:t>
            </a:r>
            <a:r>
              <a:rPr lang="fi-FI" dirty="0" err="1"/>
              <a:t>method</a:t>
            </a:r>
            <a:r>
              <a:rPr lang="fi-FI" dirty="0"/>
              <a:t>, </a:t>
            </a:r>
            <a:r>
              <a:rPr lang="fi-FI" dirty="0" err="1"/>
              <a:t>String</a:t>
            </a:r>
            <a:r>
              <a:rPr lang="fi-FI" dirty="0"/>
              <a:t> </a:t>
            </a:r>
            <a:r>
              <a:rPr lang="fi-FI" dirty="0" err="1"/>
              <a:t>name</a:t>
            </a:r>
            <a:r>
              <a:rPr lang="fi-FI" dirty="0"/>
              <a:t>, </a:t>
            </a:r>
            <a:r>
              <a:rPr lang="fi-FI" dirty="0" err="1"/>
              <a:t>int</a:t>
            </a:r>
            <a:r>
              <a:rPr lang="fi-FI" dirty="0"/>
              <a:t> </a:t>
            </a:r>
            <a:r>
              <a:rPr lang="fi-FI" dirty="0" err="1"/>
              <a:t>size</a:t>
            </a:r>
            <a:r>
              <a:rPr lang="fi-FI" dirty="0"/>
              <a:t>, </a:t>
            </a:r>
            <a:r>
              <a:rPr lang="fi-FI" dirty="0" err="1"/>
              <a:t>int</a:t>
            </a:r>
            <a:r>
              <a:rPr lang="fi-FI" dirty="0"/>
              <a:t>[] </a:t>
            </a:r>
            <a:r>
              <a:rPr lang="fi-FI" dirty="0" err="1"/>
              <a:t>arr</a:t>
            </a:r>
            <a:r>
              <a:rPr lang="fi-FI" dirty="0"/>
              <a:t>) {</a:t>
            </a:r>
          </a:p>
          <a:p>
            <a:r>
              <a:rPr lang="fi-FI" dirty="0"/>
              <a:t>            long </a:t>
            </a:r>
            <a:r>
              <a:rPr lang="fi-FI" dirty="0" err="1"/>
              <a:t>start</a:t>
            </a:r>
            <a:r>
              <a:rPr lang="fi-FI" dirty="0"/>
              <a:t> = </a:t>
            </a:r>
            <a:r>
              <a:rPr lang="fi-FI" dirty="0" err="1"/>
              <a:t>System.nanoTime</a:t>
            </a:r>
            <a:r>
              <a:rPr lang="fi-FI" dirty="0"/>
              <a:t>();</a:t>
            </a:r>
          </a:p>
          <a:p>
            <a:r>
              <a:rPr lang="fi-FI" dirty="0"/>
              <a:t>            </a:t>
            </a:r>
            <a:r>
              <a:rPr lang="fi-FI" dirty="0" err="1"/>
              <a:t>method.methodSignature</a:t>
            </a:r>
            <a:r>
              <a:rPr lang="fi-FI" dirty="0"/>
              <a:t>(</a:t>
            </a:r>
            <a:r>
              <a:rPr lang="fi-FI" dirty="0" err="1"/>
              <a:t>arr</a:t>
            </a:r>
            <a:r>
              <a:rPr lang="fi-FI" dirty="0"/>
              <a:t>);</a:t>
            </a:r>
          </a:p>
          <a:p>
            <a:r>
              <a:rPr lang="fi-FI" dirty="0"/>
              <a:t>            long </a:t>
            </a:r>
            <a:r>
              <a:rPr lang="fi-FI" dirty="0" err="1"/>
              <a:t>taken</a:t>
            </a:r>
            <a:r>
              <a:rPr lang="fi-FI" dirty="0"/>
              <a:t> = </a:t>
            </a:r>
            <a:r>
              <a:rPr lang="fi-FI" dirty="0" err="1"/>
              <a:t>System.nanoTime</a:t>
            </a:r>
            <a:r>
              <a:rPr lang="fi-FI" dirty="0"/>
              <a:t>() - </a:t>
            </a:r>
            <a:r>
              <a:rPr lang="fi-FI" dirty="0" err="1"/>
              <a:t>start</a:t>
            </a:r>
            <a:r>
              <a:rPr lang="fi-FI" dirty="0"/>
              <a:t>;</a:t>
            </a:r>
          </a:p>
          <a:p>
            <a:r>
              <a:rPr lang="fi-FI" dirty="0"/>
              <a:t>            </a:t>
            </a:r>
            <a:r>
              <a:rPr lang="fi-FI" dirty="0" err="1"/>
              <a:t>System.out.println</a:t>
            </a:r>
            <a:r>
              <a:rPr lang="fi-FI" dirty="0"/>
              <a:t>(</a:t>
            </a:r>
            <a:r>
              <a:rPr lang="fi-FI" dirty="0" err="1"/>
              <a:t>name</a:t>
            </a:r>
            <a:r>
              <a:rPr lang="fi-FI" dirty="0"/>
              <a:t> + ": " + </a:t>
            </a:r>
            <a:r>
              <a:rPr lang="fi-FI" dirty="0" err="1"/>
              <a:t>String.format</a:t>
            </a:r>
            <a:r>
              <a:rPr lang="fi-FI" dirty="0"/>
              <a:t>("%.3f", </a:t>
            </a:r>
            <a:r>
              <a:rPr lang="fi-FI" dirty="0" err="1"/>
              <a:t>taken</a:t>
            </a:r>
            <a:r>
              <a:rPr lang="fi-FI" dirty="0"/>
              <a:t> / 1000000.0) + "ms");</a:t>
            </a:r>
          </a:p>
          <a:p>
            <a:r>
              <a:rPr lang="fi-FI" dirty="0"/>
              <a:t>}</a:t>
            </a:r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BF0ECEAB-ACAF-5669-5497-1F00A2CBF539}"/>
              </a:ext>
            </a:extLst>
          </p:cNvPr>
          <p:cNvSpPr txBox="1"/>
          <p:nvPr/>
        </p:nvSpPr>
        <p:spPr>
          <a:xfrm>
            <a:off x="921224" y="4319516"/>
            <a:ext cx="46001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public interface </a:t>
            </a:r>
            <a:r>
              <a:rPr lang="en-US" dirty="0" err="1"/>
              <a:t>FunctionPointer</a:t>
            </a:r>
            <a:r>
              <a:rPr lang="en-US" dirty="0"/>
              <a:t> {</a:t>
            </a:r>
          </a:p>
          <a:p>
            <a:r>
              <a:rPr lang="en-US" dirty="0"/>
              <a:t>            void </a:t>
            </a:r>
            <a:r>
              <a:rPr lang="en-US" dirty="0" err="1"/>
              <a:t>methodSignature</a:t>
            </a:r>
            <a:r>
              <a:rPr lang="en-US" dirty="0"/>
              <a:t>(int[] data);</a:t>
            </a:r>
          </a:p>
          <a:p>
            <a:r>
              <a:rPr lang="en-US" dirty="0"/>
              <a:t>        }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694672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iruutu 1">
            <a:extLst>
              <a:ext uri="{FF2B5EF4-FFF2-40B4-BE49-F238E27FC236}">
                <a16:creationId xmlns:a16="http://schemas.microsoft.com/office/drawing/2014/main" id="{52964F3D-4CE3-0808-63AD-72161B88132F}"/>
              </a:ext>
            </a:extLst>
          </p:cNvPr>
          <p:cNvSpPr txBox="1"/>
          <p:nvPr/>
        </p:nvSpPr>
        <p:spPr>
          <a:xfrm>
            <a:off x="0" y="115000"/>
            <a:ext cx="123163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sz="2400" b="1" dirty="0"/>
              <a:t>Optimoin </a:t>
            </a:r>
            <a:r>
              <a:rPr lang="fi-FI" sz="2400" b="1" dirty="0" err="1"/>
              <a:t>Quick</a:t>
            </a:r>
            <a:r>
              <a:rPr lang="fi-FI" sz="2400" b="1" dirty="0"/>
              <a:t> Sortin käyttämällä </a:t>
            </a:r>
            <a:r>
              <a:rPr lang="fi-FI" sz="2400" b="1" dirty="0">
                <a:highlight>
                  <a:srgbClr val="00FF00"/>
                </a:highlight>
              </a:rPr>
              <a:t>pivot-alkiona </a:t>
            </a:r>
            <a:r>
              <a:rPr lang="fi-FI" sz="2400" b="1" dirty="0" err="1">
                <a:highlight>
                  <a:srgbClr val="00FF00"/>
                </a:highlight>
              </a:rPr>
              <a:t>random.nextInt</a:t>
            </a:r>
            <a:r>
              <a:rPr lang="fi-FI" sz="2400" b="1" dirty="0">
                <a:highlight>
                  <a:srgbClr val="00FF00"/>
                </a:highlight>
              </a:rPr>
              <a:t>() väliltä </a:t>
            </a:r>
            <a:r>
              <a:rPr lang="fi-FI" sz="2400" b="1" dirty="0" err="1">
                <a:highlight>
                  <a:srgbClr val="00FF00"/>
                </a:highlight>
              </a:rPr>
              <a:t>low</a:t>
            </a:r>
            <a:r>
              <a:rPr lang="fi-FI" sz="2400" b="1" dirty="0">
                <a:highlight>
                  <a:srgbClr val="00FF00"/>
                </a:highlight>
              </a:rPr>
              <a:t> ja </a:t>
            </a:r>
            <a:r>
              <a:rPr lang="fi-FI" sz="2400" b="1" dirty="0" err="1">
                <a:highlight>
                  <a:srgbClr val="00FF00"/>
                </a:highlight>
              </a:rPr>
              <a:t>high</a:t>
            </a:r>
            <a:r>
              <a:rPr lang="fi-FI" sz="2400" b="1" dirty="0">
                <a:highlight>
                  <a:srgbClr val="00FF00"/>
                </a:highlight>
              </a:rPr>
              <a:t> + 1</a:t>
            </a:r>
            <a:r>
              <a:rPr lang="fi-FI" sz="2400" b="1" dirty="0"/>
              <a:t>,</a:t>
            </a:r>
          </a:p>
          <a:p>
            <a:r>
              <a:rPr lang="fi-FI" sz="2400" b="1" dirty="0"/>
              <a:t>tällöin normaalin </a:t>
            </a:r>
            <a:r>
              <a:rPr lang="fi-FI" sz="2400" b="1" dirty="0" err="1"/>
              <a:t>Quick</a:t>
            </a:r>
            <a:r>
              <a:rPr lang="fi-FI" sz="2400" b="1" dirty="0"/>
              <a:t> Sortin laskevan / nousevan datan O(n^2) huonointa tapausta</a:t>
            </a:r>
          </a:p>
          <a:p>
            <a:r>
              <a:rPr lang="fi-FI" sz="2400" b="1" dirty="0"/>
              <a:t>ei tapahdu</a:t>
            </a:r>
          </a:p>
        </p:txBody>
      </p:sp>
      <p:sp>
        <p:nvSpPr>
          <p:cNvPr id="3" name="Tekstiruutu 2">
            <a:extLst>
              <a:ext uri="{FF2B5EF4-FFF2-40B4-BE49-F238E27FC236}">
                <a16:creationId xmlns:a16="http://schemas.microsoft.com/office/drawing/2014/main" id="{EFC386E7-9FA4-2E6B-8EF8-07E204F26AE2}"/>
              </a:ext>
            </a:extLst>
          </p:cNvPr>
          <p:cNvSpPr txBox="1"/>
          <p:nvPr/>
        </p:nvSpPr>
        <p:spPr>
          <a:xfrm>
            <a:off x="1709926" y="1315329"/>
            <a:ext cx="8772145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sz="1400" dirty="0" err="1">
                <a:highlight>
                  <a:srgbClr val="00FF00"/>
                </a:highlight>
              </a:rPr>
              <a:t>private</a:t>
            </a:r>
            <a:r>
              <a:rPr lang="fi-FI" sz="1400" dirty="0">
                <a:highlight>
                  <a:srgbClr val="00FF00"/>
                </a:highlight>
              </a:rPr>
              <a:t> </a:t>
            </a:r>
            <a:r>
              <a:rPr lang="fi-FI" sz="1400" dirty="0" err="1">
                <a:highlight>
                  <a:srgbClr val="00FF00"/>
                </a:highlight>
              </a:rPr>
              <a:t>static</a:t>
            </a:r>
            <a:r>
              <a:rPr lang="fi-FI" sz="1400" dirty="0">
                <a:highlight>
                  <a:srgbClr val="00FF00"/>
                </a:highlight>
              </a:rPr>
              <a:t> </a:t>
            </a:r>
            <a:r>
              <a:rPr lang="fi-FI" sz="1400" dirty="0" err="1">
                <a:highlight>
                  <a:srgbClr val="00FF00"/>
                </a:highlight>
              </a:rPr>
              <a:t>final</a:t>
            </a:r>
            <a:r>
              <a:rPr lang="fi-FI" sz="1400" dirty="0">
                <a:highlight>
                  <a:srgbClr val="00FF00"/>
                </a:highlight>
              </a:rPr>
              <a:t> Random </a:t>
            </a:r>
            <a:r>
              <a:rPr lang="fi-FI" sz="1400" dirty="0" err="1">
                <a:highlight>
                  <a:srgbClr val="00FF00"/>
                </a:highlight>
              </a:rPr>
              <a:t>gen</a:t>
            </a:r>
            <a:r>
              <a:rPr lang="fi-FI" sz="1400" dirty="0">
                <a:highlight>
                  <a:srgbClr val="00FF00"/>
                </a:highlight>
              </a:rPr>
              <a:t> = </a:t>
            </a:r>
            <a:r>
              <a:rPr lang="fi-FI" sz="1400" dirty="0" err="1">
                <a:highlight>
                  <a:srgbClr val="00FF00"/>
                </a:highlight>
              </a:rPr>
              <a:t>new</a:t>
            </a:r>
            <a:r>
              <a:rPr lang="fi-FI" sz="1400" dirty="0">
                <a:highlight>
                  <a:srgbClr val="00FF00"/>
                </a:highlight>
              </a:rPr>
              <a:t> Random();</a:t>
            </a:r>
          </a:p>
          <a:p>
            <a:r>
              <a:rPr lang="fi-FI" sz="1400" dirty="0"/>
              <a:t>        </a:t>
            </a:r>
          </a:p>
          <a:p>
            <a:r>
              <a:rPr lang="fi-FI" sz="1400" dirty="0"/>
              <a:t>        </a:t>
            </a:r>
            <a:r>
              <a:rPr lang="fi-FI" sz="1400" dirty="0" err="1"/>
              <a:t>public</a:t>
            </a:r>
            <a:r>
              <a:rPr lang="fi-FI" sz="1400" dirty="0"/>
              <a:t> </a:t>
            </a:r>
            <a:r>
              <a:rPr lang="fi-FI" sz="1400" dirty="0" err="1"/>
              <a:t>static</a:t>
            </a:r>
            <a:r>
              <a:rPr lang="fi-FI" sz="1400" dirty="0"/>
              <a:t> </a:t>
            </a:r>
            <a:r>
              <a:rPr lang="fi-FI" sz="1400" dirty="0" err="1"/>
              <a:t>void</a:t>
            </a:r>
            <a:r>
              <a:rPr lang="fi-FI" sz="1400" dirty="0"/>
              <a:t> </a:t>
            </a:r>
            <a:r>
              <a:rPr lang="fi-FI" sz="1400" dirty="0" err="1"/>
              <a:t>optimizedQuickSort</a:t>
            </a:r>
            <a:r>
              <a:rPr lang="fi-FI" sz="1400" dirty="0"/>
              <a:t>(</a:t>
            </a:r>
            <a:r>
              <a:rPr lang="fi-FI" sz="1400" dirty="0" err="1"/>
              <a:t>int</a:t>
            </a:r>
            <a:r>
              <a:rPr lang="fi-FI" sz="1400" dirty="0"/>
              <a:t>[] data, </a:t>
            </a:r>
            <a:r>
              <a:rPr lang="fi-FI" sz="1400" dirty="0" err="1"/>
              <a:t>int</a:t>
            </a:r>
            <a:r>
              <a:rPr lang="fi-FI" sz="1400" dirty="0"/>
              <a:t> </a:t>
            </a:r>
            <a:r>
              <a:rPr lang="fi-FI" sz="1400" dirty="0" err="1"/>
              <a:t>low</a:t>
            </a:r>
            <a:r>
              <a:rPr lang="fi-FI" sz="1400" dirty="0"/>
              <a:t>, </a:t>
            </a:r>
            <a:r>
              <a:rPr lang="fi-FI" sz="1400" dirty="0" err="1"/>
              <a:t>int</a:t>
            </a:r>
            <a:r>
              <a:rPr lang="fi-FI" sz="1400" dirty="0"/>
              <a:t> </a:t>
            </a:r>
            <a:r>
              <a:rPr lang="fi-FI" sz="1400" dirty="0" err="1"/>
              <a:t>high</a:t>
            </a:r>
            <a:r>
              <a:rPr lang="fi-FI" sz="1400" dirty="0"/>
              <a:t>) {</a:t>
            </a:r>
          </a:p>
          <a:p>
            <a:r>
              <a:rPr lang="fi-FI" sz="1400" dirty="0"/>
              <a:t>            </a:t>
            </a:r>
            <a:r>
              <a:rPr lang="fi-FI" sz="1400" dirty="0" err="1"/>
              <a:t>if</a:t>
            </a:r>
            <a:r>
              <a:rPr lang="fi-FI" sz="1400" dirty="0"/>
              <a:t> (</a:t>
            </a:r>
            <a:r>
              <a:rPr lang="fi-FI" sz="1400" dirty="0" err="1"/>
              <a:t>low</a:t>
            </a:r>
            <a:r>
              <a:rPr lang="fi-FI" sz="1400" dirty="0"/>
              <a:t> &gt;= </a:t>
            </a:r>
            <a:r>
              <a:rPr lang="fi-FI" sz="1400" dirty="0" err="1"/>
              <a:t>high</a:t>
            </a:r>
            <a:r>
              <a:rPr lang="fi-FI" sz="1400" dirty="0"/>
              <a:t>) </a:t>
            </a:r>
            <a:r>
              <a:rPr lang="fi-FI" sz="1400" dirty="0" err="1"/>
              <a:t>return</a:t>
            </a:r>
            <a:r>
              <a:rPr lang="fi-FI" sz="1400" dirty="0"/>
              <a:t>;</a:t>
            </a:r>
          </a:p>
          <a:p>
            <a:r>
              <a:rPr lang="fi-FI" sz="1400" dirty="0"/>
              <a:t>            </a:t>
            </a:r>
            <a:r>
              <a:rPr lang="fi-FI" sz="1400" dirty="0" err="1">
                <a:highlight>
                  <a:srgbClr val="00FF00"/>
                </a:highlight>
              </a:rPr>
              <a:t>int</a:t>
            </a:r>
            <a:r>
              <a:rPr lang="fi-FI" sz="1400" dirty="0">
                <a:highlight>
                  <a:srgbClr val="00FF00"/>
                </a:highlight>
              </a:rPr>
              <a:t> </a:t>
            </a:r>
            <a:r>
              <a:rPr lang="fi-FI" sz="1400" dirty="0" err="1">
                <a:highlight>
                  <a:srgbClr val="00FF00"/>
                </a:highlight>
              </a:rPr>
              <a:t>pivotIndex</a:t>
            </a:r>
            <a:r>
              <a:rPr lang="fi-FI" sz="1400" dirty="0">
                <a:highlight>
                  <a:srgbClr val="00FF00"/>
                </a:highlight>
              </a:rPr>
              <a:t> = </a:t>
            </a:r>
            <a:r>
              <a:rPr lang="fi-FI" sz="1400" dirty="0" err="1">
                <a:highlight>
                  <a:srgbClr val="00FF00"/>
                </a:highlight>
              </a:rPr>
              <a:t>gen.nextInt</a:t>
            </a:r>
            <a:r>
              <a:rPr lang="fi-FI" sz="1400" dirty="0">
                <a:highlight>
                  <a:srgbClr val="00FF00"/>
                </a:highlight>
              </a:rPr>
              <a:t>(</a:t>
            </a:r>
            <a:r>
              <a:rPr lang="fi-FI" sz="1400" dirty="0" err="1">
                <a:highlight>
                  <a:srgbClr val="00FF00"/>
                </a:highlight>
              </a:rPr>
              <a:t>low</a:t>
            </a:r>
            <a:r>
              <a:rPr lang="fi-FI" sz="1400" dirty="0">
                <a:highlight>
                  <a:srgbClr val="00FF00"/>
                </a:highlight>
              </a:rPr>
              <a:t>, </a:t>
            </a:r>
            <a:r>
              <a:rPr lang="fi-FI" sz="1400" dirty="0" err="1">
                <a:highlight>
                  <a:srgbClr val="00FF00"/>
                </a:highlight>
              </a:rPr>
              <a:t>high</a:t>
            </a:r>
            <a:r>
              <a:rPr lang="fi-FI" sz="1400" dirty="0">
                <a:highlight>
                  <a:srgbClr val="00FF00"/>
                </a:highlight>
              </a:rPr>
              <a:t> + 1</a:t>
            </a:r>
            <a:r>
              <a:rPr lang="fi-FI" sz="1400" dirty="0"/>
              <a:t>); // vältetään huonoin O(n^2) tapaus jos lista laskeva tai nouseva</a:t>
            </a:r>
          </a:p>
          <a:p>
            <a:r>
              <a:rPr lang="fi-FI" sz="1400" dirty="0"/>
              <a:t>            </a:t>
            </a:r>
            <a:r>
              <a:rPr lang="fi-FI" sz="1400" dirty="0" err="1"/>
              <a:t>int</a:t>
            </a:r>
            <a:r>
              <a:rPr lang="fi-FI" sz="1400" dirty="0"/>
              <a:t> pivot = data[</a:t>
            </a:r>
            <a:r>
              <a:rPr lang="fi-FI" sz="1400" dirty="0" err="1"/>
              <a:t>pivotIndex</a:t>
            </a:r>
            <a:r>
              <a:rPr lang="fi-FI" sz="1400" dirty="0"/>
              <a:t>]; // optimoidaan valitsemalla random </a:t>
            </a:r>
            <a:r>
              <a:rPr lang="fi-FI" sz="1400" dirty="0" err="1"/>
              <a:t>int</a:t>
            </a:r>
            <a:r>
              <a:rPr lang="fi-FI" sz="1400" dirty="0"/>
              <a:t> </a:t>
            </a:r>
            <a:r>
              <a:rPr lang="fi-FI" sz="1400" dirty="0" err="1"/>
              <a:t>pivotiksi</a:t>
            </a:r>
            <a:endParaRPr lang="fi-FI" sz="1400" dirty="0"/>
          </a:p>
          <a:p>
            <a:r>
              <a:rPr lang="fi-FI" sz="1400" dirty="0"/>
              <a:t>            </a:t>
            </a:r>
            <a:r>
              <a:rPr lang="fi-FI" sz="1400" dirty="0" err="1"/>
              <a:t>int</a:t>
            </a:r>
            <a:r>
              <a:rPr lang="fi-FI" sz="1400" dirty="0"/>
              <a:t> </a:t>
            </a:r>
            <a:r>
              <a:rPr lang="fi-FI" sz="1400" dirty="0" err="1"/>
              <a:t>pTemp</a:t>
            </a:r>
            <a:r>
              <a:rPr lang="fi-FI" sz="1400" dirty="0"/>
              <a:t> = data[</a:t>
            </a:r>
            <a:r>
              <a:rPr lang="fi-FI" sz="1400" dirty="0" err="1"/>
              <a:t>pivotIndex</a:t>
            </a:r>
            <a:r>
              <a:rPr lang="fi-FI" sz="1400" dirty="0"/>
              <a:t>];</a:t>
            </a:r>
          </a:p>
          <a:p>
            <a:r>
              <a:rPr lang="fi-FI" sz="1400" dirty="0"/>
              <a:t>            data[</a:t>
            </a:r>
            <a:r>
              <a:rPr lang="fi-FI" sz="1400" dirty="0" err="1"/>
              <a:t>pivotIndex</a:t>
            </a:r>
            <a:r>
              <a:rPr lang="fi-FI" sz="1400" dirty="0"/>
              <a:t>] = data[</a:t>
            </a:r>
            <a:r>
              <a:rPr lang="fi-FI" sz="1400" dirty="0" err="1"/>
              <a:t>high</a:t>
            </a:r>
            <a:r>
              <a:rPr lang="fi-FI" sz="1400" dirty="0"/>
              <a:t>];</a:t>
            </a:r>
          </a:p>
          <a:p>
            <a:r>
              <a:rPr lang="fi-FI" sz="1400" dirty="0"/>
              <a:t>            data[</a:t>
            </a:r>
            <a:r>
              <a:rPr lang="fi-FI" sz="1400" dirty="0" err="1"/>
              <a:t>high</a:t>
            </a:r>
            <a:r>
              <a:rPr lang="fi-FI" sz="1400" dirty="0"/>
              <a:t>] = </a:t>
            </a:r>
            <a:r>
              <a:rPr lang="fi-FI" sz="1400" dirty="0" err="1"/>
              <a:t>pTemp</a:t>
            </a:r>
            <a:r>
              <a:rPr lang="fi-FI" sz="1400" dirty="0"/>
              <a:t>;</a:t>
            </a:r>
          </a:p>
          <a:p>
            <a:r>
              <a:rPr lang="fi-FI" sz="1400" dirty="0"/>
              <a:t>            </a:t>
            </a:r>
            <a:r>
              <a:rPr lang="fi-FI" sz="1400" dirty="0" err="1"/>
              <a:t>int</a:t>
            </a:r>
            <a:r>
              <a:rPr lang="fi-FI" sz="1400" dirty="0"/>
              <a:t> </a:t>
            </a:r>
            <a:r>
              <a:rPr lang="fi-FI" sz="1400" dirty="0" err="1"/>
              <a:t>index</a:t>
            </a:r>
            <a:r>
              <a:rPr lang="fi-FI" sz="1400" dirty="0"/>
              <a:t> = </a:t>
            </a:r>
            <a:r>
              <a:rPr lang="fi-FI" sz="1400" dirty="0" err="1"/>
              <a:t>low</a:t>
            </a:r>
            <a:r>
              <a:rPr lang="fi-FI" sz="1400" dirty="0"/>
              <a:t>;</a:t>
            </a:r>
          </a:p>
          <a:p>
            <a:r>
              <a:rPr lang="fi-FI" sz="1400" dirty="0"/>
              <a:t>            for (</a:t>
            </a:r>
            <a:r>
              <a:rPr lang="fi-FI" sz="1400" dirty="0" err="1"/>
              <a:t>int</a:t>
            </a:r>
            <a:r>
              <a:rPr lang="fi-FI" sz="1400" dirty="0"/>
              <a:t> i = </a:t>
            </a:r>
            <a:r>
              <a:rPr lang="fi-FI" sz="1400" dirty="0" err="1"/>
              <a:t>low</a:t>
            </a:r>
            <a:r>
              <a:rPr lang="fi-FI" sz="1400" dirty="0"/>
              <a:t>; i &lt; </a:t>
            </a:r>
            <a:r>
              <a:rPr lang="fi-FI" sz="1400" dirty="0" err="1"/>
              <a:t>high</a:t>
            </a:r>
            <a:r>
              <a:rPr lang="fi-FI" sz="1400" dirty="0"/>
              <a:t>; ++i) {</a:t>
            </a:r>
          </a:p>
          <a:p>
            <a:r>
              <a:rPr lang="fi-FI" sz="1400" dirty="0"/>
              <a:t>                </a:t>
            </a:r>
            <a:r>
              <a:rPr lang="fi-FI" sz="1400" dirty="0" err="1"/>
              <a:t>if</a:t>
            </a:r>
            <a:r>
              <a:rPr lang="fi-FI" sz="1400" dirty="0"/>
              <a:t> (data[i] &lt; pivot) {</a:t>
            </a:r>
          </a:p>
          <a:p>
            <a:r>
              <a:rPr lang="fi-FI" sz="1400" dirty="0"/>
              <a:t>                    </a:t>
            </a:r>
            <a:r>
              <a:rPr lang="fi-FI" sz="1400" dirty="0" err="1"/>
              <a:t>int</a:t>
            </a:r>
            <a:r>
              <a:rPr lang="fi-FI" sz="1400" dirty="0"/>
              <a:t> </a:t>
            </a:r>
            <a:r>
              <a:rPr lang="fi-FI" sz="1400" dirty="0" err="1"/>
              <a:t>temp</a:t>
            </a:r>
            <a:r>
              <a:rPr lang="fi-FI" sz="1400" dirty="0"/>
              <a:t> = data[</a:t>
            </a:r>
            <a:r>
              <a:rPr lang="fi-FI" sz="1400" dirty="0" err="1"/>
              <a:t>index</a:t>
            </a:r>
            <a:r>
              <a:rPr lang="fi-FI" sz="1400" dirty="0"/>
              <a:t>];</a:t>
            </a:r>
          </a:p>
          <a:p>
            <a:r>
              <a:rPr lang="fi-FI" sz="1400" dirty="0"/>
              <a:t>                    data[</a:t>
            </a:r>
            <a:r>
              <a:rPr lang="fi-FI" sz="1400" dirty="0" err="1"/>
              <a:t>index</a:t>
            </a:r>
            <a:r>
              <a:rPr lang="fi-FI" sz="1400" dirty="0"/>
              <a:t>] = data[i];</a:t>
            </a:r>
          </a:p>
          <a:p>
            <a:r>
              <a:rPr lang="fi-FI" sz="1400" dirty="0"/>
              <a:t>                    data[i] = </a:t>
            </a:r>
            <a:r>
              <a:rPr lang="fi-FI" sz="1400" dirty="0" err="1"/>
              <a:t>temp</a:t>
            </a:r>
            <a:r>
              <a:rPr lang="fi-FI" sz="1400" dirty="0"/>
              <a:t>;</a:t>
            </a:r>
          </a:p>
          <a:p>
            <a:r>
              <a:rPr lang="fi-FI" sz="1400" dirty="0"/>
              <a:t>                    ++</a:t>
            </a:r>
            <a:r>
              <a:rPr lang="fi-FI" sz="1400" dirty="0" err="1"/>
              <a:t>index</a:t>
            </a:r>
            <a:r>
              <a:rPr lang="fi-FI" sz="1400" dirty="0"/>
              <a:t>;</a:t>
            </a:r>
          </a:p>
          <a:p>
            <a:r>
              <a:rPr lang="fi-FI" sz="1400" dirty="0"/>
              <a:t>                }</a:t>
            </a:r>
          </a:p>
          <a:p>
            <a:r>
              <a:rPr lang="fi-FI" sz="1400" dirty="0"/>
              <a:t>            }</a:t>
            </a:r>
          </a:p>
          <a:p>
            <a:r>
              <a:rPr lang="fi-FI" sz="1400" dirty="0"/>
              <a:t>            </a:t>
            </a:r>
            <a:r>
              <a:rPr lang="fi-FI" sz="1400" dirty="0" err="1"/>
              <a:t>int</a:t>
            </a:r>
            <a:r>
              <a:rPr lang="fi-FI" sz="1400" dirty="0"/>
              <a:t> </a:t>
            </a:r>
            <a:r>
              <a:rPr lang="fi-FI" sz="1400" dirty="0" err="1"/>
              <a:t>temp</a:t>
            </a:r>
            <a:r>
              <a:rPr lang="fi-FI" sz="1400" dirty="0"/>
              <a:t> = data[</a:t>
            </a:r>
            <a:r>
              <a:rPr lang="fi-FI" sz="1400" dirty="0" err="1"/>
              <a:t>index</a:t>
            </a:r>
            <a:r>
              <a:rPr lang="fi-FI" sz="1400" dirty="0"/>
              <a:t>];</a:t>
            </a:r>
          </a:p>
          <a:p>
            <a:r>
              <a:rPr lang="fi-FI" sz="1400" dirty="0"/>
              <a:t>            data[</a:t>
            </a:r>
            <a:r>
              <a:rPr lang="fi-FI" sz="1400" dirty="0" err="1"/>
              <a:t>index</a:t>
            </a:r>
            <a:r>
              <a:rPr lang="fi-FI" sz="1400" dirty="0"/>
              <a:t>] = data[</a:t>
            </a:r>
            <a:r>
              <a:rPr lang="fi-FI" sz="1400" dirty="0" err="1"/>
              <a:t>high</a:t>
            </a:r>
            <a:r>
              <a:rPr lang="fi-FI" sz="1400" dirty="0"/>
              <a:t>];</a:t>
            </a:r>
          </a:p>
          <a:p>
            <a:r>
              <a:rPr lang="fi-FI" sz="1400" dirty="0"/>
              <a:t>            data[</a:t>
            </a:r>
            <a:r>
              <a:rPr lang="fi-FI" sz="1400" dirty="0" err="1"/>
              <a:t>high</a:t>
            </a:r>
            <a:r>
              <a:rPr lang="fi-FI" sz="1400" dirty="0"/>
              <a:t>] = </a:t>
            </a:r>
            <a:r>
              <a:rPr lang="fi-FI" sz="1400" dirty="0" err="1"/>
              <a:t>temp</a:t>
            </a:r>
            <a:r>
              <a:rPr lang="fi-FI" sz="1400" dirty="0"/>
              <a:t>;</a:t>
            </a:r>
          </a:p>
          <a:p>
            <a:r>
              <a:rPr lang="fi-FI" sz="1400" dirty="0"/>
              <a:t>            </a:t>
            </a:r>
            <a:r>
              <a:rPr lang="fi-FI" sz="1400" dirty="0" err="1"/>
              <a:t>optimizedQuickSort</a:t>
            </a:r>
            <a:r>
              <a:rPr lang="fi-FI" sz="1400" dirty="0"/>
              <a:t>(data, </a:t>
            </a:r>
            <a:r>
              <a:rPr lang="fi-FI" sz="1400" dirty="0" err="1"/>
              <a:t>low</a:t>
            </a:r>
            <a:r>
              <a:rPr lang="fi-FI" sz="1400" dirty="0"/>
              <a:t>, </a:t>
            </a:r>
            <a:r>
              <a:rPr lang="fi-FI" sz="1400" dirty="0" err="1"/>
              <a:t>index</a:t>
            </a:r>
            <a:r>
              <a:rPr lang="fi-FI" sz="1400" dirty="0"/>
              <a:t> - 1);</a:t>
            </a:r>
          </a:p>
          <a:p>
            <a:r>
              <a:rPr lang="fi-FI" sz="1400" dirty="0"/>
              <a:t>            </a:t>
            </a:r>
            <a:r>
              <a:rPr lang="fi-FI" sz="1400" dirty="0" err="1"/>
              <a:t>optimizedQuickSort</a:t>
            </a:r>
            <a:r>
              <a:rPr lang="fi-FI" sz="1400" dirty="0"/>
              <a:t>(data, </a:t>
            </a:r>
            <a:r>
              <a:rPr lang="fi-FI" sz="1400" dirty="0" err="1"/>
              <a:t>index</a:t>
            </a:r>
            <a:r>
              <a:rPr lang="fi-FI" sz="1400" dirty="0"/>
              <a:t> + 1, </a:t>
            </a:r>
            <a:r>
              <a:rPr lang="fi-FI" sz="1400" dirty="0" err="1"/>
              <a:t>high</a:t>
            </a:r>
            <a:r>
              <a:rPr lang="fi-FI" sz="1400" dirty="0"/>
              <a:t>);</a:t>
            </a:r>
          </a:p>
          <a:p>
            <a:r>
              <a:rPr lang="fi-FI" sz="1400" dirty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2365388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iruutu 1">
            <a:extLst>
              <a:ext uri="{FF2B5EF4-FFF2-40B4-BE49-F238E27FC236}">
                <a16:creationId xmlns:a16="http://schemas.microsoft.com/office/drawing/2014/main" id="{687B6FA4-5512-90B3-DB23-3A05DF945819}"/>
              </a:ext>
            </a:extLst>
          </p:cNvPr>
          <p:cNvSpPr txBox="1"/>
          <p:nvPr/>
        </p:nvSpPr>
        <p:spPr>
          <a:xfrm>
            <a:off x="3120839" y="331770"/>
            <a:ext cx="584993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sz="2800" b="1" dirty="0" err="1"/>
              <a:t>Quick</a:t>
            </a:r>
            <a:r>
              <a:rPr lang="fi-FI" sz="2800" b="1" dirty="0"/>
              <a:t> </a:t>
            </a:r>
            <a:r>
              <a:rPr lang="fi-FI" sz="2800" b="1" dirty="0" err="1"/>
              <a:t>Sort</a:t>
            </a:r>
            <a:r>
              <a:rPr lang="fi-FI" sz="2800" b="1" dirty="0"/>
              <a:t> </a:t>
            </a:r>
            <a:r>
              <a:rPr lang="fi-FI" sz="2800" b="1" dirty="0" err="1"/>
              <a:t>vs</a:t>
            </a:r>
            <a:r>
              <a:rPr lang="fi-FI" sz="2800" b="1" dirty="0"/>
              <a:t> Optimoitu </a:t>
            </a:r>
            <a:r>
              <a:rPr lang="fi-FI" sz="2800" b="1" dirty="0" err="1"/>
              <a:t>Quick</a:t>
            </a:r>
            <a:r>
              <a:rPr lang="fi-FI" sz="2800" b="1" dirty="0"/>
              <a:t> </a:t>
            </a:r>
            <a:r>
              <a:rPr lang="fi-FI" sz="2800" b="1" dirty="0" err="1"/>
              <a:t>Sort</a:t>
            </a:r>
            <a:endParaRPr lang="fi-FI" sz="2800" b="1" dirty="0"/>
          </a:p>
          <a:p>
            <a:r>
              <a:rPr lang="fi-FI" sz="2800" b="1" dirty="0"/>
              <a:t>250 000 alkiolla</a:t>
            </a:r>
          </a:p>
        </p:txBody>
      </p:sp>
      <p:sp>
        <p:nvSpPr>
          <p:cNvPr id="3" name="Tekstiruutu 2">
            <a:extLst>
              <a:ext uri="{FF2B5EF4-FFF2-40B4-BE49-F238E27FC236}">
                <a16:creationId xmlns:a16="http://schemas.microsoft.com/office/drawing/2014/main" id="{B6852150-97D0-72C2-281B-8824704D23A2}"/>
              </a:ext>
            </a:extLst>
          </p:cNvPr>
          <p:cNvSpPr txBox="1"/>
          <p:nvPr/>
        </p:nvSpPr>
        <p:spPr>
          <a:xfrm>
            <a:off x="4166425" y="1235122"/>
            <a:ext cx="38591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/>
              <a:t>Random: </a:t>
            </a:r>
          </a:p>
          <a:p>
            <a:r>
              <a:rPr lang="fi-FI" dirty="0" err="1">
                <a:highlight>
                  <a:srgbClr val="00FF00"/>
                </a:highlight>
              </a:rPr>
              <a:t>Quick</a:t>
            </a:r>
            <a:r>
              <a:rPr lang="fi-FI" dirty="0">
                <a:highlight>
                  <a:srgbClr val="00FF00"/>
                </a:highlight>
              </a:rPr>
              <a:t> </a:t>
            </a:r>
            <a:r>
              <a:rPr lang="fi-FI" dirty="0" err="1">
                <a:highlight>
                  <a:srgbClr val="00FF00"/>
                </a:highlight>
              </a:rPr>
              <a:t>Sort</a:t>
            </a:r>
            <a:r>
              <a:rPr lang="fi-FI" dirty="0">
                <a:highlight>
                  <a:srgbClr val="00FF00"/>
                </a:highlight>
              </a:rPr>
              <a:t>: 39,449ms</a:t>
            </a:r>
          </a:p>
          <a:p>
            <a:r>
              <a:rPr lang="fi-FI" dirty="0" err="1"/>
              <a:t>Optimized</a:t>
            </a:r>
            <a:r>
              <a:rPr lang="fi-FI" dirty="0"/>
              <a:t> </a:t>
            </a:r>
            <a:r>
              <a:rPr lang="fi-FI" dirty="0" err="1"/>
              <a:t>Quick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46,896ms</a:t>
            </a:r>
          </a:p>
          <a:p>
            <a:endParaRPr lang="fi-FI" dirty="0"/>
          </a:p>
        </p:txBody>
      </p:sp>
      <p:sp>
        <p:nvSpPr>
          <p:cNvPr id="5" name="Tekstiruutu 4">
            <a:extLst>
              <a:ext uri="{FF2B5EF4-FFF2-40B4-BE49-F238E27FC236}">
                <a16:creationId xmlns:a16="http://schemas.microsoft.com/office/drawing/2014/main" id="{3D0FC739-F227-0CE0-D475-EDB33CF7A652}"/>
              </a:ext>
            </a:extLst>
          </p:cNvPr>
          <p:cNvSpPr txBox="1"/>
          <p:nvPr/>
        </p:nvSpPr>
        <p:spPr>
          <a:xfrm>
            <a:off x="4116233" y="2435451"/>
            <a:ext cx="38591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/>
              <a:t>Nouseva: </a:t>
            </a:r>
          </a:p>
          <a:p>
            <a:r>
              <a:rPr lang="fi-FI" dirty="0" err="1"/>
              <a:t>Quick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50738,007ms</a:t>
            </a:r>
          </a:p>
          <a:p>
            <a:r>
              <a:rPr lang="fi-FI" dirty="0" err="1">
                <a:highlight>
                  <a:srgbClr val="00FF00"/>
                </a:highlight>
              </a:rPr>
              <a:t>Optimized</a:t>
            </a:r>
            <a:r>
              <a:rPr lang="fi-FI" dirty="0">
                <a:highlight>
                  <a:srgbClr val="00FF00"/>
                </a:highlight>
              </a:rPr>
              <a:t> </a:t>
            </a:r>
            <a:r>
              <a:rPr lang="fi-FI" dirty="0" err="1">
                <a:highlight>
                  <a:srgbClr val="00FF00"/>
                </a:highlight>
              </a:rPr>
              <a:t>Quick</a:t>
            </a:r>
            <a:r>
              <a:rPr lang="fi-FI" dirty="0">
                <a:highlight>
                  <a:srgbClr val="00FF00"/>
                </a:highlight>
              </a:rPr>
              <a:t> </a:t>
            </a:r>
            <a:r>
              <a:rPr lang="fi-FI" dirty="0" err="1">
                <a:highlight>
                  <a:srgbClr val="00FF00"/>
                </a:highlight>
              </a:rPr>
              <a:t>Sort</a:t>
            </a:r>
            <a:r>
              <a:rPr lang="fi-FI" dirty="0">
                <a:highlight>
                  <a:srgbClr val="00FF00"/>
                </a:highlight>
              </a:rPr>
              <a:t>: 8,773ms</a:t>
            </a:r>
          </a:p>
        </p:txBody>
      </p:sp>
      <p:sp>
        <p:nvSpPr>
          <p:cNvPr id="6" name="Tekstiruutu 5">
            <a:extLst>
              <a:ext uri="{FF2B5EF4-FFF2-40B4-BE49-F238E27FC236}">
                <a16:creationId xmlns:a16="http://schemas.microsoft.com/office/drawing/2014/main" id="{115CCFCD-5623-6B9B-7FB9-4DA7335EACB2}"/>
              </a:ext>
            </a:extLst>
          </p:cNvPr>
          <p:cNvSpPr txBox="1"/>
          <p:nvPr/>
        </p:nvSpPr>
        <p:spPr>
          <a:xfrm flipH="1">
            <a:off x="4116232" y="3911584"/>
            <a:ext cx="36772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/>
              <a:t>Laskeva: </a:t>
            </a:r>
          </a:p>
          <a:p>
            <a:r>
              <a:rPr lang="fi-FI" dirty="0" err="1"/>
              <a:t>Quick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22869,827ms</a:t>
            </a:r>
          </a:p>
          <a:p>
            <a:r>
              <a:rPr lang="fi-FI" dirty="0" err="1">
                <a:highlight>
                  <a:srgbClr val="00FF00"/>
                </a:highlight>
              </a:rPr>
              <a:t>Optimized</a:t>
            </a:r>
            <a:r>
              <a:rPr lang="fi-FI" dirty="0">
                <a:highlight>
                  <a:srgbClr val="00FF00"/>
                </a:highlight>
              </a:rPr>
              <a:t> </a:t>
            </a:r>
            <a:r>
              <a:rPr lang="fi-FI" dirty="0" err="1">
                <a:highlight>
                  <a:srgbClr val="00FF00"/>
                </a:highlight>
              </a:rPr>
              <a:t>Quick</a:t>
            </a:r>
            <a:r>
              <a:rPr lang="fi-FI" dirty="0">
                <a:highlight>
                  <a:srgbClr val="00FF00"/>
                </a:highlight>
              </a:rPr>
              <a:t> </a:t>
            </a:r>
            <a:r>
              <a:rPr lang="fi-FI" dirty="0" err="1">
                <a:highlight>
                  <a:srgbClr val="00FF00"/>
                </a:highlight>
              </a:rPr>
              <a:t>Sort</a:t>
            </a:r>
            <a:r>
              <a:rPr lang="fi-FI" dirty="0">
                <a:highlight>
                  <a:srgbClr val="00FF00"/>
                </a:highlight>
              </a:rPr>
              <a:t>: 11,923ms</a:t>
            </a:r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C2EB1C5D-E25B-1851-487F-EAB17627845D}"/>
              </a:ext>
            </a:extLst>
          </p:cNvPr>
          <p:cNvSpPr txBox="1"/>
          <p:nvPr/>
        </p:nvSpPr>
        <p:spPr>
          <a:xfrm>
            <a:off x="3091218" y="5261212"/>
            <a:ext cx="57020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dirty="0"/>
              <a:t>Tästä näkee kuinka tärkeää on valita oikea pivot-indeksi:</a:t>
            </a:r>
          </a:p>
          <a:p>
            <a:r>
              <a:rPr lang="fi-FI" dirty="0"/>
              <a:t>randomilla ero on 7 millisekuntia, mutta nousevalla ja </a:t>
            </a:r>
          </a:p>
          <a:p>
            <a:r>
              <a:rPr lang="fi-FI" dirty="0"/>
              <a:t>laskevalla ero on kymmeniä sekunteja</a:t>
            </a:r>
          </a:p>
        </p:txBody>
      </p:sp>
    </p:spTree>
    <p:extLst>
      <p:ext uri="{BB962C8B-B14F-4D97-AF65-F5344CB8AC3E}">
        <p14:creationId xmlns:p14="http://schemas.microsoft.com/office/powerpoint/2010/main" val="2984234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iruutu 1">
            <a:extLst>
              <a:ext uri="{FF2B5EF4-FFF2-40B4-BE49-F238E27FC236}">
                <a16:creationId xmlns:a16="http://schemas.microsoft.com/office/drawing/2014/main" id="{272C8927-5E3C-EC87-7CB8-7B90769F20CB}"/>
              </a:ext>
            </a:extLst>
          </p:cNvPr>
          <p:cNvSpPr txBox="1"/>
          <p:nvPr/>
        </p:nvSpPr>
        <p:spPr>
          <a:xfrm>
            <a:off x="3636436" y="217211"/>
            <a:ext cx="49191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800" b="1" dirty="0"/>
              <a:t>Algoritmien aikavaatimukset</a:t>
            </a:r>
          </a:p>
        </p:txBody>
      </p:sp>
      <p:sp>
        <p:nvSpPr>
          <p:cNvPr id="3" name="Tekstiruutu 2">
            <a:extLst>
              <a:ext uri="{FF2B5EF4-FFF2-40B4-BE49-F238E27FC236}">
                <a16:creationId xmlns:a16="http://schemas.microsoft.com/office/drawing/2014/main" id="{343B529F-445D-67B8-9EF4-96C34C1521C7}"/>
              </a:ext>
            </a:extLst>
          </p:cNvPr>
          <p:cNvSpPr txBox="1"/>
          <p:nvPr/>
        </p:nvSpPr>
        <p:spPr>
          <a:xfrm>
            <a:off x="1612866" y="1373160"/>
            <a:ext cx="392357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b="1" dirty="0"/>
              <a:t>Random datalla(250 000):</a:t>
            </a:r>
          </a:p>
          <a:p>
            <a:endParaRPr lang="fi-FI" b="1" dirty="0"/>
          </a:p>
          <a:p>
            <a:r>
              <a:rPr lang="fi-FI" dirty="0" err="1"/>
              <a:t>Insertion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15766,262ms</a:t>
            </a:r>
          </a:p>
          <a:p>
            <a:r>
              <a:rPr lang="fi-FI" dirty="0" err="1"/>
              <a:t>Bubble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145833,526ms</a:t>
            </a:r>
          </a:p>
          <a:p>
            <a:r>
              <a:rPr lang="fi-FI" dirty="0"/>
              <a:t>Shell </a:t>
            </a:r>
            <a:r>
              <a:rPr lang="fi-FI" dirty="0" err="1"/>
              <a:t>Sort</a:t>
            </a:r>
            <a:r>
              <a:rPr lang="fi-FI" dirty="0"/>
              <a:t>: 54,956ms</a:t>
            </a:r>
          </a:p>
          <a:p>
            <a:r>
              <a:rPr lang="fi-FI" dirty="0" err="1"/>
              <a:t>Knuth</a:t>
            </a:r>
            <a:r>
              <a:rPr lang="fi-FI" dirty="0"/>
              <a:t> </a:t>
            </a:r>
            <a:r>
              <a:rPr lang="fi-FI" dirty="0" err="1"/>
              <a:t>Sequence</a:t>
            </a:r>
            <a:r>
              <a:rPr lang="fi-FI" dirty="0"/>
              <a:t> Shell </a:t>
            </a:r>
            <a:r>
              <a:rPr lang="fi-FI" dirty="0" err="1"/>
              <a:t>Sort</a:t>
            </a:r>
            <a:r>
              <a:rPr lang="fi-FI" dirty="0"/>
              <a:t>: 46,766ms</a:t>
            </a:r>
          </a:p>
          <a:p>
            <a:r>
              <a:rPr lang="fi-FI" dirty="0" err="1"/>
              <a:t>Quick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39,449ms</a:t>
            </a:r>
          </a:p>
          <a:p>
            <a:r>
              <a:rPr lang="fi-FI" dirty="0" err="1"/>
              <a:t>Optimized</a:t>
            </a:r>
            <a:r>
              <a:rPr lang="fi-FI" dirty="0"/>
              <a:t> </a:t>
            </a:r>
            <a:r>
              <a:rPr lang="fi-FI" dirty="0" err="1"/>
              <a:t>Quick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46,896ms</a:t>
            </a:r>
          </a:p>
          <a:p>
            <a:r>
              <a:rPr lang="fi-FI" dirty="0" err="1"/>
              <a:t>Merge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61,340ms</a:t>
            </a:r>
          </a:p>
          <a:p>
            <a:r>
              <a:rPr lang="fi-FI" dirty="0"/>
              <a:t>Java </a:t>
            </a:r>
            <a:r>
              <a:rPr lang="fi-FI" dirty="0" err="1"/>
              <a:t>Arrays.sort</a:t>
            </a:r>
            <a:r>
              <a:rPr lang="fi-FI" dirty="0"/>
              <a:t>: 129,775ms</a:t>
            </a:r>
          </a:p>
          <a:p>
            <a:endParaRPr lang="fi-FI" dirty="0"/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98CEA4C2-B349-75FF-08E5-25B0E0594098}"/>
              </a:ext>
            </a:extLst>
          </p:cNvPr>
          <p:cNvSpPr txBox="1"/>
          <p:nvPr/>
        </p:nvSpPr>
        <p:spPr>
          <a:xfrm>
            <a:off x="6353033" y="1373160"/>
            <a:ext cx="55887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/>
              <a:t>Aikavaatimukset:</a:t>
            </a:r>
          </a:p>
          <a:p>
            <a:endParaRPr lang="fi-FI" b="1" dirty="0"/>
          </a:p>
          <a:p>
            <a:r>
              <a:rPr lang="fi-FI" dirty="0" err="1"/>
              <a:t>Insertion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aina O(n^2)</a:t>
            </a:r>
          </a:p>
          <a:p>
            <a:r>
              <a:rPr lang="fi-FI" dirty="0" err="1"/>
              <a:t>Bubble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aina O(n^2)</a:t>
            </a:r>
          </a:p>
          <a:p>
            <a:r>
              <a:rPr lang="fi-FI" dirty="0"/>
              <a:t>Shell </a:t>
            </a:r>
            <a:r>
              <a:rPr lang="fi-FI" dirty="0" err="1"/>
              <a:t>Sort</a:t>
            </a:r>
            <a:r>
              <a:rPr lang="fi-FI" dirty="0"/>
              <a:t>: O(n^1.5)*, huonoin O(n^2)</a:t>
            </a:r>
          </a:p>
          <a:p>
            <a:r>
              <a:rPr lang="fi-FI" dirty="0" err="1"/>
              <a:t>Knuth</a:t>
            </a:r>
            <a:r>
              <a:rPr lang="fi-FI" dirty="0"/>
              <a:t> </a:t>
            </a:r>
            <a:r>
              <a:rPr lang="fi-FI" dirty="0" err="1"/>
              <a:t>Sequence</a:t>
            </a:r>
            <a:r>
              <a:rPr lang="fi-FI" dirty="0"/>
              <a:t> Shell </a:t>
            </a:r>
            <a:r>
              <a:rPr lang="fi-FI" dirty="0" err="1"/>
              <a:t>Sort</a:t>
            </a:r>
            <a:r>
              <a:rPr lang="fi-FI" dirty="0"/>
              <a:t>: O(n^1.25), huonoin O(n^2)</a:t>
            </a:r>
          </a:p>
          <a:p>
            <a:r>
              <a:rPr lang="fi-FI" dirty="0" err="1"/>
              <a:t>Quick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O(</a:t>
            </a:r>
            <a:r>
              <a:rPr lang="fi-FI" dirty="0" err="1"/>
              <a:t>nlogn</a:t>
            </a:r>
            <a:r>
              <a:rPr lang="fi-FI" dirty="0"/>
              <a:t>), huonoin O(n^2)</a:t>
            </a:r>
          </a:p>
          <a:p>
            <a:r>
              <a:rPr lang="fi-FI" dirty="0" err="1"/>
              <a:t>Optimized</a:t>
            </a:r>
            <a:r>
              <a:rPr lang="fi-FI" dirty="0"/>
              <a:t> </a:t>
            </a:r>
            <a:r>
              <a:rPr lang="fi-FI" dirty="0" err="1"/>
              <a:t>Quick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O(</a:t>
            </a:r>
            <a:r>
              <a:rPr lang="fi-FI" dirty="0" err="1"/>
              <a:t>nlogn</a:t>
            </a:r>
            <a:r>
              <a:rPr lang="fi-FI" dirty="0"/>
              <a:t>), huonoin O(n^2)**</a:t>
            </a:r>
          </a:p>
          <a:p>
            <a:r>
              <a:rPr lang="fi-FI" dirty="0" err="1"/>
              <a:t>Merge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aina O(</a:t>
            </a:r>
            <a:r>
              <a:rPr lang="fi-FI" dirty="0" err="1"/>
              <a:t>nlogn</a:t>
            </a:r>
            <a:r>
              <a:rPr lang="fi-FI" dirty="0"/>
              <a:t>)</a:t>
            </a:r>
          </a:p>
          <a:p>
            <a:r>
              <a:rPr lang="fi-FI" dirty="0"/>
              <a:t>Java </a:t>
            </a:r>
            <a:r>
              <a:rPr lang="fi-FI" dirty="0" err="1"/>
              <a:t>Arrays.sort</a:t>
            </a:r>
            <a:r>
              <a:rPr lang="fi-FI" dirty="0"/>
              <a:t>: aina O(</a:t>
            </a:r>
            <a:r>
              <a:rPr lang="fi-FI" dirty="0" err="1"/>
              <a:t>nlogn</a:t>
            </a:r>
            <a:r>
              <a:rPr lang="fi-FI" dirty="0"/>
              <a:t>)</a:t>
            </a:r>
          </a:p>
          <a:p>
            <a:endParaRPr lang="fi-FI" dirty="0"/>
          </a:p>
        </p:txBody>
      </p:sp>
      <p:sp>
        <p:nvSpPr>
          <p:cNvPr id="5" name="Tekstiruutu 4">
            <a:extLst>
              <a:ext uri="{FF2B5EF4-FFF2-40B4-BE49-F238E27FC236}">
                <a16:creationId xmlns:a16="http://schemas.microsoft.com/office/drawing/2014/main" id="{5C0D7358-585A-408D-F2B4-8B10563F877E}"/>
              </a:ext>
            </a:extLst>
          </p:cNvPr>
          <p:cNvSpPr txBox="1"/>
          <p:nvPr/>
        </p:nvSpPr>
        <p:spPr>
          <a:xfrm>
            <a:off x="3261468" y="4822044"/>
            <a:ext cx="56690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* Väli n / 2, n/4, n/8… 1</a:t>
            </a:r>
          </a:p>
          <a:p>
            <a:r>
              <a:rPr lang="fi-FI" dirty="0"/>
              <a:t>** Käytännössä mahdoton, huonoimman mahdollisen tapauksen todennäköisyys  (2^(n – 1)) / n!,  esim. 20 alkiolla </a:t>
            </a:r>
            <a:r>
              <a:rPr lang="fi-FI" dirty="0" err="1"/>
              <a:t>todennäköissys</a:t>
            </a:r>
            <a:r>
              <a:rPr lang="fi-FI" dirty="0"/>
              <a:t> n. 1 / 4 600 000 000 000</a:t>
            </a:r>
          </a:p>
        </p:txBody>
      </p:sp>
    </p:spTree>
    <p:extLst>
      <p:ext uri="{BB962C8B-B14F-4D97-AF65-F5344CB8AC3E}">
        <p14:creationId xmlns:p14="http://schemas.microsoft.com/office/powerpoint/2010/main" val="958200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1089</Words>
  <Application>Microsoft Office PowerPoint</Application>
  <PresentationFormat>Laajakuva</PresentationFormat>
  <Paragraphs>153</Paragraphs>
  <Slides>8</Slides>
  <Notes>0</Notes>
  <HiddenSlides>0</HiddenSlides>
  <MMClips>0</MMClips>
  <ScaleCrop>false</ScaleCrop>
  <HeadingPairs>
    <vt:vector size="6" baseType="variant">
      <vt:variant>
        <vt:lpstr>Käytetyt fontit</vt:lpstr>
      </vt:variant>
      <vt:variant>
        <vt:i4>3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Office-teema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Keskinen, Niilo</dc:creator>
  <cp:lastModifiedBy>Keskinen, Niilo</cp:lastModifiedBy>
  <cp:revision>8</cp:revision>
  <dcterms:created xsi:type="dcterms:W3CDTF">2026-01-20T09:24:04Z</dcterms:created>
  <dcterms:modified xsi:type="dcterms:W3CDTF">2026-01-20T14:14:56Z</dcterms:modified>
</cp:coreProperties>
</file>